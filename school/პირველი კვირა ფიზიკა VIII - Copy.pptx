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1675"/>
  <p:notesSz cx="6858000" cy="12191675"/>
  <p:embeddedFontLst>
    <p:embeddedFont>
      <p:font typeface="Noto Sans Georgian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dnsQgY595LH0cqB+u3xMqjxJd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font" Target="fonts/NotoSansGeorgian-regular.fntdata"/><Relationship Id="rId15" Type="http://schemas.openxmlformats.org/officeDocument/2006/relationships/font" Target="fonts/NotoSansGeorgian-bold.fntdata"/><Relationship Id="rId16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3886200" y="0"/>
            <a:ext cx="10972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892894" y="384048"/>
            <a:ext cx="168250" cy="16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035"/>
              <a:buFont typeface="Noto Sans Georgian"/>
              <a:buNone/>
            </a:pPr>
            <a:r>
              <a:rPr b="0" i="0" lang="en-US" sz="1035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1035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0092690" y="384048"/>
            <a:ext cx="168250" cy="16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035"/>
              <a:buFont typeface="Noto Sans Georgian"/>
              <a:buNone/>
            </a:pPr>
            <a:r>
              <a:rPr b="0" i="0" lang="en-US" sz="1035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1035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292486" y="384048"/>
            <a:ext cx="168250" cy="16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035"/>
              <a:buFont typeface="Noto Sans Georgian"/>
              <a:buNone/>
            </a:pPr>
            <a:r>
              <a:rPr b="0" i="0" lang="en-US" sz="1035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1035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9829800" y="510235"/>
            <a:ext cx="1493215" cy="441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15"/>
              <a:buFont typeface="Noto Sans Georgian"/>
              <a:buNone/>
            </a:pPr>
            <a:r>
              <a:rPr b="1" i="0" lang="en-US" sz="2415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415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9745675" y="941375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13232" y="1097280"/>
            <a:ext cx="55778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800"/>
              <a:buFont typeface="Noto Sans Georgian"/>
              <a:buNone/>
            </a:pPr>
            <a:r>
              <a:rPr b="1" lang="en-US" sz="3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ფიზიკა — VIII კლასი</a:t>
            </a:r>
            <a:endParaRPr b="0" i="0" sz="3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68096" y="2880360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6.png" id="29" name="Google Shape;2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0" y="2050082"/>
            <a:ext cx="5394960" cy="2757837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"/>
          <p:cNvSpPr/>
          <p:nvPr/>
        </p:nvSpPr>
        <p:spPr>
          <a:xfrm>
            <a:off x="768096" y="6245352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150"/>
              <a:buFont typeface="Noto Sans Georgian"/>
              <a:buNone/>
            </a:pPr>
            <a:r>
              <a:rPr b="1" i="0" lang="en-US" sz="115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პირველი კვირა</a:t>
            </a:r>
            <a:endParaRPr b="0" i="0" sz="11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E7490"/>
          </a:solidFill>
          <a:ln cap="flat" cmpd="sng" w="10150">
            <a:solidFill>
              <a:srgbClr val="0E749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0E749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წლის რუკა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31520" y="1572895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მეცნიერული წიგნიერება:</a:t>
            </a:r>
            <a:r>
              <a:rPr lang="en-US" sz="1100">
                <a:solidFill>
                  <a:schemeClr val="dk1"/>
                </a:solidFill>
              </a:rPr>
              <a:t> მუშაობის, სიმძლავრისა და ენერგიის ცნებების ზუსტი გამოყენება.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ენერგიის შენახვის კანონის გააზრება:</a:t>
            </a:r>
            <a:r>
              <a:rPr lang="en-US" sz="1100">
                <a:solidFill>
                  <a:schemeClr val="dk1"/>
                </a:solidFill>
              </a:rPr>
              <a:t> კინეტიკური და პოტენციური ენერგიის ურთიერთგარდაქმნის დანახვა.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თბური მოვლენების ანალიზი:</a:t>
            </a:r>
            <a:r>
              <a:rPr lang="en-US" sz="1100">
                <a:solidFill>
                  <a:schemeClr val="dk1"/>
                </a:solidFill>
              </a:rPr>
              <a:t> აგრეგატული მდგომარეობის ცვლილებების მიზეზ-შედეგობრივი ახსნა.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პრაქტიკული გამოთვლები:</a:t>
            </a:r>
            <a:r>
              <a:rPr lang="en-US" sz="1100">
                <a:solidFill>
                  <a:schemeClr val="dk1"/>
                </a:solidFill>
              </a:rPr>
              <a:t> ფორმულების გამოყენება რეალურ ტექნიკურ და საყოფაცხოვრებო მაგალითებზე.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58382" y="1714495"/>
            <a:ext cx="164700" cy="342900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58382" y="768104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წლის მიზნები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EAF6F5">
              <a:alpha val="909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49" name="Google Shape;4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3648" y="2591001"/>
            <a:ext cx="2423160" cy="172171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51" name="Google Shape;51;p2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საგნის ხედვა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68095" y="1737357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მუშაობა, სიმძლავრე და ენერგია:</a:t>
            </a:r>
            <a:r>
              <a:rPr lang="en-US" sz="1100">
                <a:solidFill>
                  <a:schemeClr val="dk1"/>
                </a:solidFill>
              </a:rPr>
              <a:t> კინეტიკური და პოტენციური ენერგია, ენერგიის შენახვის კანონი.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მარტივი მექანიზმები:</a:t>
            </a:r>
            <a:r>
              <a:rPr lang="en-US" sz="1100">
                <a:solidFill>
                  <a:schemeClr val="dk1"/>
                </a:solidFill>
              </a:rPr>
              <a:t> ბერკეტი, ჭოჭონაქი, დახრილი სიბრტყე და სასარგებლო მოქმედების კოეფიციენტი.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თბური მოვლენები:</a:t>
            </a:r>
            <a:r>
              <a:rPr lang="en-US" sz="1100">
                <a:solidFill>
                  <a:schemeClr val="dk1"/>
                </a:solidFill>
              </a:rPr>
              <a:t> შინაგანი ენერგია, თბოგადაცემა, სითბოს რაოდენობა და კალორიმეტრია.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აგრეგატული მდგომარეობები და თბოძრავები:</a:t>
            </a:r>
            <a:r>
              <a:rPr lang="en-US" sz="1100">
                <a:solidFill>
                  <a:schemeClr val="dk1"/>
                </a:solidFill>
              </a:rPr>
              <a:t> დნობა, აორთქლება, დუღილი, თბური გაფართოება.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68107" y="1815095"/>
            <a:ext cx="164700" cy="3429000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713232" y="923554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რას ვისწავლით წელს?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1E8FA">
              <a:alpha val="90980"/>
            </a:srgbClr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4.png" id="70" name="Google Shape;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60" y="2329041"/>
            <a:ext cx="3977640" cy="240108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2" name="Google Shape;72;p3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შეფასება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731520" y="2139845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გამოთვლითი და ლაბორატორიული უნარები:</a:t>
            </a:r>
            <a:r>
              <a:rPr lang="en-US" sz="1100">
                <a:solidFill>
                  <a:schemeClr val="dk1"/>
                </a:solidFill>
              </a:rPr>
              <a:t> ფასდება ფორმულების გამოყენება და ცდის ანგარიშები.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კანონზომიერებათა ახსნა:</a:t>
            </a:r>
            <a:r>
              <a:rPr lang="en-US" sz="1100">
                <a:solidFill>
                  <a:schemeClr val="dk1"/>
                </a:solidFill>
              </a:rPr>
              <a:t> ენერგიის შენახვისა და თბური მოვლენების მიზეზობრივი ახსნის უნარი.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მკაფიო რუბრიკა:</a:t>
            </a:r>
            <a:r>
              <a:rPr lang="en-US" sz="1100">
                <a:solidFill>
                  <a:schemeClr val="dk1"/>
                </a:solidFill>
              </a:rPr>
              <a:t> წინასწარ ცნობილი კრიტერიუმები წერითი, ლაბორატორიული და პროექტული სამუშაოსთვის.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13232" y="2331720"/>
            <a:ext cx="164592" cy="34290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713232" y="1051579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შეფასება და უკუკავშირი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FE4DF">
              <a:alpha val="90980"/>
            </a:srgbClr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2832" y="2659545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4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პროცესი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768095" y="1737357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დემონსტრაციები და ცდები:</a:t>
            </a:r>
            <a:r>
              <a:rPr lang="en-US" sz="1100">
                <a:solidFill>
                  <a:schemeClr val="dk1"/>
                </a:solidFill>
              </a:rPr>
              <a:t> ენერგიის გარდაქმნა, თბოგადაცემის სახეები, აგრეგატული მდგომარეობის ცვლილება.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ლაბორატორიული სამუშაოები:</a:t>
            </a:r>
            <a:r>
              <a:rPr lang="en-US" sz="1100">
                <a:solidFill>
                  <a:schemeClr val="dk1"/>
                </a:solidFill>
              </a:rPr>
              <a:t> ბერკეტის წონასწორობა, სითბოს რაოდენობის გამოთვლა.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ამოცანების ამოხსნა:</a:t>
            </a:r>
            <a:r>
              <a:rPr lang="en-US" sz="1100">
                <a:solidFill>
                  <a:schemeClr val="dk1"/>
                </a:solidFill>
              </a:rPr>
              <a:t> მუშაობა-სიმძლავრე-ენერგია და კალორიმეტრიული გამოთვლები.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განმეორება-განზოგადება:</a:t>
            </a:r>
            <a:r>
              <a:rPr lang="en-US" sz="1100">
                <a:solidFill>
                  <a:schemeClr val="dk1"/>
                </a:solidFill>
              </a:rPr>
              <a:t> შუალედური და სემესტრული საკონტროლო სამუშაოები.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58382" y="1687057"/>
            <a:ext cx="164700" cy="342900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658382" y="923554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გაკვეთილები და დავალებები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EAF6F5">
              <a:alpha val="909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1.png"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0" y="2259581"/>
            <a:ext cx="2834640" cy="228397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4" name="Google Shape;114;p5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/>
          <p:nvPr/>
        </p:nvSpPr>
        <p:spPr>
          <a:xfrm>
            <a:off x="20290" y="10145"/>
            <a:ext cx="12191700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რესურსები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68095" y="1883795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სახელმძღვანელო და ლაბორატორიული აღჭურვილობა:</a:t>
            </a:r>
            <a:r>
              <a:rPr lang="en-US" sz="1100">
                <a:solidFill>
                  <a:schemeClr val="dk1"/>
                </a:solidFill>
              </a:rPr>
              <a:t> „ფიზიკა-8“, დინამომეტრები, კალორიმეტრი, თერმომეტრი.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დამხმარე მასალები:</a:t>
            </a:r>
            <a:r>
              <a:rPr lang="en-US" sz="1100">
                <a:solidFill>
                  <a:schemeClr val="dk1"/>
                </a:solidFill>
              </a:rPr>
              <a:t> ცხრილი ხვედრითი სითბოტევადობებზე, სამუშაო ფურცლები, დემონსტრაციული ვიდეოები.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704107" y="1883795"/>
            <a:ext cx="164700" cy="342900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704107" y="923554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და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FF1C2">
              <a:alpha val="90980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7053" y="2029968"/>
            <a:ext cx="2588334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5" name="Google Shape;135;p6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მტკიცებულებები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713232" y="2331720"/>
            <a:ext cx="699516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13232" y="2331720"/>
            <a:ext cx="164592" cy="342900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713232" y="1051560"/>
            <a:ext cx="1005840" cy="384048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713232" y="1517904"/>
            <a:ext cx="7360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Noto Sans Georgian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პორტფოლიო / ლაბორატორიული ნამუშევრების საქაღალდე</a:t>
            </a:r>
            <a:endParaRPr b="0" i="0" sz="2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EAF6F5">
              <a:alpha val="909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55" name="Google Shape;1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3960" y="2573930"/>
            <a:ext cx="2148840" cy="160955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07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ჩართულობა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713232" y="2331720"/>
            <a:ext cx="699516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„ენერგიის დეტექტივი“:</a:t>
            </a:r>
            <a:r>
              <a:rPr lang="en-US" sz="1100">
                <a:solidFill>
                  <a:schemeClr val="dk1"/>
                </a:solidFill>
              </a:rPr>
              <a:t> ყოფითი მაგალითების ძიება, სად გარდაიქმნება ენერგია ერთი სახიდან მეორეში.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მინი-პროექტი — თბოძრავი ჩემს გარშემო:</a:t>
            </a:r>
            <a:r>
              <a:rPr lang="en-US" sz="1100">
                <a:solidFill>
                  <a:schemeClr val="dk1"/>
                </a:solidFill>
              </a:rPr>
              <a:t> მანქანების, მაცივრისა თუ გათბობის მუშაობის პრინციპის კვლევა.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მარტივი მექანიზმების ვარჯიში:</a:t>
            </a:r>
            <a:r>
              <a:rPr lang="en-US" sz="1100">
                <a:solidFill>
                  <a:schemeClr val="dk1"/>
                </a:solidFill>
              </a:rPr>
              <a:t> ბერკეტისა და ჭოჭონაქის მოდელებით ტვირთის აწევის ექსპერიმენტი.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713232" y="2331720"/>
            <a:ext cx="164592" cy="3429000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713232" y="1517904"/>
            <a:ext cx="7360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ხალისიანი აქტივობები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1E8FA">
              <a:alpha val="90980"/>
            </a:srgbClr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6.png" id="176" name="Google Shape;1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2525137"/>
            <a:ext cx="3429000" cy="175286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08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8" name="Google Shape;178;p8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შეთანხმებები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713232" y="2331720"/>
            <a:ext cx="699516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გუნდურობა და პატივისცემა:</a:t>
            </a:r>
            <a:r>
              <a:rPr lang="en-US" sz="1100">
                <a:solidFill>
                  <a:schemeClr val="dk1"/>
                </a:solidFill>
              </a:rPr>
              <a:t> ლაბორატორიულ და ჯგუფურ სამუშაოებში ვინაწილებთ როლებს თანაბრად.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აქტიური ჩართულობა:</a:t>
            </a:r>
            <a:r>
              <a:rPr lang="en-US" sz="1100">
                <a:solidFill>
                  <a:schemeClr val="dk1"/>
                </a:solidFill>
              </a:rPr>
              <a:t> თამამად ვსვამთ კითხვებს და ვმონაწილეობთ დისკუსიებში; შეცდომა სწავლის ნაწილია.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მზადყოფნა და პასუხისმგებლობა:</a:t>
            </a:r>
            <a:r>
              <a:rPr lang="en-US" sz="1100">
                <a:solidFill>
                  <a:schemeClr val="dk1"/>
                </a:solidFill>
              </a:rPr>
              <a:t> გაკვეთილზე გვაქვს საჭირო ხელსაწყოები და დავალებებს ვაბარებთ დათქმულ ვადაში.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713232" y="2331720"/>
            <a:ext cx="164592" cy="34290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713232" y="1517904"/>
            <a:ext cx="7360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წესები / შეთანხმებები / კითხვები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FE4DF">
              <a:alpha val="90980"/>
            </a:srgbClr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197" name="Google Shape;1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0496" y="2121938"/>
            <a:ext cx="2514600" cy="284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09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99" name="Google Shape;199;p9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2026-09-10T05:56:14Z</dcterms:created>
  <dc:creator>OpenAI</dc:creator>
</cp:coreProperties>
</file>