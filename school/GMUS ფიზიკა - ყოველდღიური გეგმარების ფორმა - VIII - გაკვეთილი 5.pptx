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6858000" cx="12191675"/>
  <p:notesSz cx="6858000" cy="12191675"/>
  <p:embeddedFontLst>
    <p:embeddedFont>
      <p:font typeface="Noto Sans Georgian"/>
      <p:regular r:id="rId12"/>
      <p:bold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4" roundtripDataSignature="AMtx7mjFTkcRW8u/SH9hvfOxt8iS2x/jr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font" Target="fonts/NotoSansGeorgian-regular.fntdata"/><Relationship Id="rId13" Type="http://schemas.openxmlformats.org/officeDocument/2006/relationships/font" Target="fonts/NotoSansGeorgian-bold.fntdata"/><Relationship Id="rId14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3f8ceb06b7e_0_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" name="Google Shape;30;g3f8ceb06b7e_0_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g3f8ceb06b7e_0_3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3f8ceb06b7e_0_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" name="Google Shape;45;g3f8ceb06b7e_0_5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g3f8ceb06b7e_0_5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8EE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6BBEC1"/>
          </a:solidFill>
          <a:ln cap="flat" cmpd="sng" w="10150">
            <a:solidFill>
              <a:srgbClr val="6BBEC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20116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6903720" y="1417320"/>
            <a:ext cx="3657600" cy="4251960"/>
          </a:xfrm>
          <a:prstGeom prst="roundRect">
            <a:avLst>
              <a:gd fmla="val 16667" name="adj"/>
            </a:avLst>
          </a:prstGeom>
          <a:solidFill>
            <a:srgbClr val="EAF6F5">
              <a:alpha val="96078"/>
            </a:srgbClr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9904781" y="384048"/>
            <a:ext cx="862279" cy="14721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863"/>
              <a:buFont typeface="Noto Sans Georgian"/>
              <a:buNone/>
            </a:pPr>
            <a:r>
              <a:rPr b="0" i="0" lang="en-US" sz="863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863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9820656" y="678485"/>
            <a:ext cx="1493215" cy="39959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300"/>
              <a:buFont typeface="Noto Sans Georgian"/>
              <a:buNone/>
            </a:pPr>
            <a:r>
              <a:rPr b="1" i="0" lang="en-US" sz="2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9736531" y="1141171"/>
            <a:ext cx="1976933" cy="18928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621"/>
              <a:buFont typeface="Noto Sans Georgian"/>
              <a:buNone/>
            </a:pPr>
            <a:r>
              <a:rPr b="0" i="0" lang="en-US" sz="621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621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713232" y="1051560"/>
            <a:ext cx="589788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Noto Sans Georgian"/>
              <a:buNone/>
            </a:pPr>
            <a:r>
              <a:rPr b="1" lang="en-US" sz="3600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პოტენციური ენერგია</a:t>
            </a:r>
            <a:endParaRPr b="0" i="0" sz="36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768096" y="2971800"/>
            <a:ext cx="49377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400"/>
              <a:buFont typeface="Noto Sans Georgian"/>
              <a:buNone/>
            </a:pPr>
            <a:r>
              <a:t>GMUS ფიზიკა - ყოველდღიური გეგმარების ფორმა - VIII - გაკვეთილი 5</a:t>
            </a:r>
            <a:endParaRPr b="0" i="0" sz="14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749808" y="3767328"/>
            <a:ext cx="1920240" cy="109728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1"/>
          <p:cNvSpPr/>
          <p:nvPr/>
        </p:nvSpPr>
        <p:spPr>
          <a:xfrm>
            <a:off x="2816352" y="3767328"/>
            <a:ext cx="1143000" cy="109728"/>
          </a:xfrm>
          <a:prstGeom prst="rect">
            <a:avLst/>
          </a:prstGeom>
          <a:solidFill>
            <a:srgbClr val="7A43A4"/>
          </a:solidFill>
          <a:ln cap="flat" cmpd="sng" w="10150">
            <a:solidFill>
              <a:srgbClr val="7A43A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1"/>
          <p:cNvSpPr/>
          <p:nvPr/>
        </p:nvSpPr>
        <p:spPr>
          <a:xfrm>
            <a:off x="4096512" y="3767328"/>
            <a:ext cx="1600200" cy="109728"/>
          </a:xfrm>
          <a:prstGeom prst="rect">
            <a:avLst/>
          </a:prstGeom>
          <a:solidFill>
            <a:srgbClr val="E9605A"/>
          </a:solidFill>
          <a:ln cap="flat" cmpd="sng" w="10150">
            <a:solidFill>
              <a:srgbClr val="E9605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pptx_extract/ppt/media/image5.png" id="27" name="Google Shape;2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38778" y="1828800"/>
            <a:ext cx="3033204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8EE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3f8ceb06b7e_0_39"/>
          <p:cNvSpPr/>
          <p:nvPr/>
        </p:nvSpPr>
        <p:spPr>
          <a:xfrm>
            <a:off x="0" y="0"/>
            <a:ext cx="201300" cy="6858000"/>
          </a:xfrm>
          <a:prstGeom prst="rect">
            <a:avLst/>
          </a:prstGeom>
          <a:solidFill>
            <a:srgbClr val="6BBEC1"/>
          </a:solidFill>
          <a:ln cap="flat" cmpd="sng" w="10150">
            <a:solidFill>
              <a:srgbClr val="6BBEC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g3f8ceb06b7e_0_39"/>
          <p:cNvSpPr/>
          <p:nvPr/>
        </p:nvSpPr>
        <p:spPr>
          <a:xfrm>
            <a:off x="201168" y="0"/>
            <a:ext cx="73200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g3f8ceb06b7e_0_39"/>
          <p:cNvSpPr/>
          <p:nvPr/>
        </p:nvSpPr>
        <p:spPr>
          <a:xfrm>
            <a:off x="6903720" y="1417320"/>
            <a:ext cx="3657600" cy="4251900"/>
          </a:xfrm>
          <a:prstGeom prst="roundRect">
            <a:avLst>
              <a:gd fmla="val 16667" name="adj"/>
            </a:avLst>
          </a:prstGeom>
          <a:solidFill>
            <a:srgbClr val="EAF6F5">
              <a:alpha val="96080"/>
            </a:srgbClr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g3f8ceb06b7e_0_39"/>
          <p:cNvSpPr/>
          <p:nvPr/>
        </p:nvSpPr>
        <p:spPr>
          <a:xfrm>
            <a:off x="9904781" y="384048"/>
            <a:ext cx="8622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863"/>
              <a:buFont typeface="Noto Sans Georgian"/>
              <a:buNone/>
            </a:pPr>
            <a:r>
              <a:rPr b="0" i="0" lang="en-US" sz="863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863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37" name="Google Shape;37;g3f8ceb06b7e_0_39"/>
          <p:cNvSpPr/>
          <p:nvPr/>
        </p:nvSpPr>
        <p:spPr>
          <a:xfrm>
            <a:off x="9820656" y="678485"/>
            <a:ext cx="1493100" cy="3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300"/>
              <a:buFont typeface="Noto Sans Georgian"/>
              <a:buNone/>
            </a:pPr>
            <a:r>
              <a:rPr b="1" i="0" lang="en-US" sz="2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38" name="Google Shape;38;g3f8ceb06b7e_0_39"/>
          <p:cNvSpPr/>
          <p:nvPr/>
        </p:nvSpPr>
        <p:spPr>
          <a:xfrm>
            <a:off x="9736531" y="1141171"/>
            <a:ext cx="19770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621"/>
              <a:buFont typeface="Noto Sans Georgian"/>
              <a:buNone/>
            </a:pPr>
            <a:r>
              <a:rPr b="0" i="0" lang="en-US" sz="621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621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39" name="Google Shape;39;g3f8ceb06b7e_0_39"/>
          <p:cNvSpPr/>
          <p:nvPr/>
        </p:nvSpPr>
        <p:spPr>
          <a:xfrm>
            <a:off x="274375" y="228600"/>
            <a:ext cx="9339000" cy="5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Noto Sans Georgian"/>
              <a:buNone/>
            </a:pPr>
            <a:r>
              <a:rPr b="1" lang="en-US" sz="2800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თემის ფარგლებში დასამუშავებელი მიზნები</a:t>
            </a:r>
            <a:endParaRPr b="0" i="0" sz="28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40" name="Google Shape;40;g3f8ceb06b7e_0_39"/>
          <p:cNvSpPr/>
          <p:nvPr/>
        </p:nvSpPr>
        <p:spPr>
          <a:xfrm>
            <a:off x="768096" y="2971800"/>
            <a:ext cx="49377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400"/>
              <a:buFont typeface="Noto Sans Georgi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pic>
        <p:nvPicPr>
          <p:cNvPr id="41" name="Google Shape;41;g3f8ceb06b7e_0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20343" y="1917125"/>
            <a:ext cx="2824366" cy="3252300"/>
          </a:xfrm>
          <a:prstGeom prst="rect">
            <a:avLst/>
          </a:prstGeom>
          <a:solidFill>
            <a:srgbClr val="EAF6F5">
              <a:alpha val="96080"/>
            </a:srgbClr>
          </a:solidFill>
          <a:ln cap="flat" cmpd="sng" w="10150">
            <a:solidFill>
              <a:srgbClr val="EAF6F5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2" name="Google Shape;42;g3f8ceb06b7e_0_39"/>
          <p:cNvSpPr txBox="1"/>
          <p:nvPr/>
        </p:nvSpPr>
        <p:spPr>
          <a:xfrm>
            <a:off x="649700" y="1179100"/>
            <a:ext cx="5879700" cy="48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 პოტენციური ენერგიის ცნებისა და სახეების გარჩევა.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2. ფორმულის Eპ=mgh გამოყენება ამოცანებში.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3. კინეტიკურ და პოტენციურ ენერგიას შორის კავშირის დანახვა.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8EE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f8ceb06b7e_0_57"/>
          <p:cNvSpPr/>
          <p:nvPr/>
        </p:nvSpPr>
        <p:spPr>
          <a:xfrm>
            <a:off x="0" y="0"/>
            <a:ext cx="201300" cy="6858000"/>
          </a:xfrm>
          <a:prstGeom prst="rect">
            <a:avLst/>
          </a:prstGeom>
          <a:solidFill>
            <a:srgbClr val="6BBEC1"/>
          </a:solidFill>
          <a:ln cap="flat" cmpd="sng" w="10150">
            <a:solidFill>
              <a:srgbClr val="6BBEC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g3f8ceb06b7e_0_57"/>
          <p:cNvSpPr/>
          <p:nvPr/>
        </p:nvSpPr>
        <p:spPr>
          <a:xfrm>
            <a:off x="201168" y="0"/>
            <a:ext cx="73200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g3f8ceb06b7e_0_57"/>
          <p:cNvSpPr/>
          <p:nvPr/>
        </p:nvSpPr>
        <p:spPr>
          <a:xfrm>
            <a:off x="6903720" y="1417320"/>
            <a:ext cx="3657600" cy="4251900"/>
          </a:xfrm>
          <a:prstGeom prst="roundRect">
            <a:avLst>
              <a:gd fmla="val 16667" name="adj"/>
            </a:avLst>
          </a:prstGeom>
          <a:solidFill>
            <a:srgbClr val="EAF6F5">
              <a:alpha val="96080"/>
            </a:srgbClr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g3f8ceb06b7e_0_57"/>
          <p:cNvSpPr/>
          <p:nvPr/>
        </p:nvSpPr>
        <p:spPr>
          <a:xfrm>
            <a:off x="9904781" y="384048"/>
            <a:ext cx="8622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863"/>
              <a:buFont typeface="Noto Sans Georgian"/>
              <a:buNone/>
            </a:pPr>
            <a:r>
              <a:rPr b="0" i="0" lang="en-US" sz="863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863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52" name="Google Shape;52;g3f8ceb06b7e_0_57"/>
          <p:cNvSpPr/>
          <p:nvPr/>
        </p:nvSpPr>
        <p:spPr>
          <a:xfrm>
            <a:off x="9820656" y="678485"/>
            <a:ext cx="1493100" cy="3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300"/>
              <a:buFont typeface="Noto Sans Georgian"/>
              <a:buNone/>
            </a:pPr>
            <a:r>
              <a:rPr b="1" i="0" lang="en-US" sz="2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53" name="Google Shape;53;g3f8ceb06b7e_0_57"/>
          <p:cNvSpPr/>
          <p:nvPr/>
        </p:nvSpPr>
        <p:spPr>
          <a:xfrm>
            <a:off x="9736531" y="1141171"/>
            <a:ext cx="19770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621"/>
              <a:buFont typeface="Noto Sans Georgian"/>
              <a:buNone/>
            </a:pPr>
            <a:r>
              <a:rPr b="0" i="0" lang="en-US" sz="621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621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54" name="Google Shape;54;g3f8ceb06b7e_0_57"/>
          <p:cNvSpPr/>
          <p:nvPr/>
        </p:nvSpPr>
        <p:spPr>
          <a:xfrm>
            <a:off x="274375" y="228600"/>
            <a:ext cx="9339000" cy="5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Noto Sans Georgian"/>
              <a:buNone/>
            </a:pPr>
            <a:r>
              <a:rPr b="1" lang="en-US" sz="2700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მიზნის მისაღწევად დასამუშავებელი რესურსები</a:t>
            </a:r>
            <a:endParaRPr b="0" i="0" sz="27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55" name="Google Shape;55;g3f8ceb06b7e_0_57"/>
          <p:cNvSpPr/>
          <p:nvPr/>
        </p:nvSpPr>
        <p:spPr>
          <a:xfrm>
            <a:off x="768096" y="2971800"/>
            <a:ext cx="49377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400"/>
              <a:buFont typeface="Noto Sans Georgi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56" name="Google Shape;56;g3f8ceb06b7e_0_57"/>
          <p:cNvSpPr txBox="1"/>
          <p:nvPr/>
        </p:nvSpPr>
        <p:spPr>
          <a:xfrm>
            <a:off x="649700" y="1179100"/>
            <a:ext cx="5879700" cy="48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 სახელმძღვანელო „ფიზიკა-8“.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2. ზამბარა.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3. სამუშაო ფურცელი.</a:t>
            </a:r>
            <a:endParaRPr/>
          </a:p>
        </p:txBody>
      </p:sp>
      <p:pic>
        <p:nvPicPr>
          <p:cNvPr id="57" name="Google Shape;57;g3f8ceb06b7e_0_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33986" y="1940300"/>
            <a:ext cx="3397075" cy="339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cap="flat" cmpd="sng" w="10150">
            <a:solidFill>
              <a:srgbClr val="FFF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E9605A"/>
          </a:solidFill>
          <a:ln cap="flat" cmpd="sng" w="10150">
            <a:solidFill>
              <a:srgbClr val="E9605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"/>
          <p:cNvSpPr/>
          <p:nvPr/>
        </p:nvSpPr>
        <p:spPr>
          <a:xfrm>
            <a:off x="15544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3"/>
          <p:cNvSpPr/>
          <p:nvPr/>
        </p:nvSpPr>
        <p:spPr>
          <a:xfrm>
            <a:off x="10268712" y="182880"/>
            <a:ext cx="74980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750"/>
              <a:buFont typeface="Noto Sans Georgian"/>
              <a:buNone/>
            </a:pPr>
            <a:r>
              <a:rPr b="0" i="0" lang="en-US" sz="75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75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10195560" y="438912"/>
            <a:ext cx="12984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Noto Sans Georgian"/>
              <a:buNone/>
            </a:pPr>
            <a:r>
              <a:rPr b="1" i="0" lang="en-US" sz="20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0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10122408" y="841248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40"/>
              <a:buFont typeface="Noto Sans Georgian"/>
              <a:buNone/>
            </a:pPr>
            <a:r>
              <a:rPr b="0" i="0" lang="en-US" sz="54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54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658368" y="384048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900"/>
              <a:buFont typeface="Noto Sans Georgian"/>
              <a:buNone/>
            </a:pPr>
            <a:r>
              <a:rPr b="1" i="0" lang="en-US" sz="9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დროის მართვა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658368" y="629107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800"/>
              <a:buFont typeface="Noto Sans Georgian"/>
              <a:buNone/>
            </a:pPr>
            <a:r>
              <a:rPr b="1" i="0" lang="en-US" sz="8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03</a:t>
            </a:r>
            <a:endParaRPr b="0" i="0" sz="8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71" name="Google Shape;71;p3"/>
          <p:cNvCxnSpPr/>
          <p:nvPr/>
        </p:nvCxnSpPr>
        <p:spPr>
          <a:xfrm>
            <a:off x="1170432" y="6391656"/>
            <a:ext cx="9601200" cy="0"/>
          </a:xfrm>
          <a:prstGeom prst="straightConnector1">
            <a:avLst/>
          </a:prstGeom>
          <a:noFill/>
          <a:ln cap="flat" cmpd="sng" w="95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2" name="Google Shape;72;p3"/>
          <p:cNvSpPr/>
          <p:nvPr/>
        </p:nvSpPr>
        <p:spPr>
          <a:xfrm>
            <a:off x="713232" y="850392"/>
            <a:ext cx="80467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900"/>
              <a:buFont typeface="Noto Sans Georgian"/>
              <a:buNone/>
            </a:pPr>
            <a:r>
              <a:rPr b="1" i="0" lang="en-US" sz="29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დღის გეგმა — დროის განაწილება</a:t>
            </a:r>
            <a:endParaRPr b="0" i="0" sz="2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749808" y="1664208"/>
            <a:ext cx="7726800" cy="4343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3"/>
          <p:cNvSpPr/>
          <p:nvPr/>
        </p:nvSpPr>
        <p:spPr>
          <a:xfrm>
            <a:off x="749808" y="1664208"/>
            <a:ext cx="109800" cy="4343400"/>
          </a:xfrm>
          <a:prstGeom prst="roundRect">
            <a:avLst>
              <a:gd fmla="val 16667" name="adj"/>
            </a:avLst>
          </a:prstGeom>
          <a:solidFill>
            <a:srgbClr val="FFE4DF"/>
          </a:solidFill>
          <a:ln cap="flat" cmpd="sng" w="10150">
            <a:solidFill>
              <a:srgbClr val="FFE4D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3"/>
          <p:cNvSpPr/>
          <p:nvPr/>
        </p:nvSpPr>
        <p:spPr>
          <a:xfrm>
            <a:off x="978408" y="2011680"/>
            <a:ext cx="320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1.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1344168" y="2011680"/>
            <a:ext cx="4069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Noto Sans Georgian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წინარე ცოდნის გააქტიურება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77" name="Google Shape;77;p3"/>
          <p:cNvCxnSpPr/>
          <p:nvPr/>
        </p:nvCxnSpPr>
        <p:spPr>
          <a:xfrm>
            <a:off x="5577840" y="2176272"/>
            <a:ext cx="1234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8" name="Google Shape;78;p3"/>
          <p:cNvSpPr/>
          <p:nvPr/>
        </p:nvSpPr>
        <p:spPr>
          <a:xfrm>
            <a:off x="6903720" y="201168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Noto Sans Georgian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5 წთ.</a:t>
            </a:r>
            <a:endParaRPr b="0" i="0" sz="1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978408" y="2697480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2.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1344168" y="2697480"/>
            <a:ext cx="4069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Noto Sans Georgian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დავალებაზე / წინა მასალაზე მუშაობა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81" name="Google Shape;81;p3"/>
          <p:cNvCxnSpPr/>
          <p:nvPr/>
        </p:nvCxnSpPr>
        <p:spPr>
          <a:xfrm>
            <a:off x="5577840" y="2862072"/>
            <a:ext cx="1234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2" name="Google Shape;82;p3"/>
          <p:cNvSpPr/>
          <p:nvPr/>
        </p:nvSpPr>
        <p:spPr>
          <a:xfrm>
            <a:off x="6903720" y="269748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Noto Sans Georgian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5 წთ.</a:t>
            </a:r>
            <a:endParaRPr b="0" i="0" sz="1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978408" y="3383280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3.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1344168" y="3383280"/>
            <a:ext cx="4069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Noto Sans Georgian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ძირითადი აქტივობა I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85" name="Google Shape;85;p3"/>
          <p:cNvCxnSpPr/>
          <p:nvPr/>
        </p:nvCxnSpPr>
        <p:spPr>
          <a:xfrm>
            <a:off x="5577840" y="3547872"/>
            <a:ext cx="1234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6" name="Google Shape;86;p3"/>
          <p:cNvSpPr/>
          <p:nvPr/>
        </p:nvSpPr>
        <p:spPr>
          <a:xfrm>
            <a:off x="6903720" y="338328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Noto Sans Georgian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15 წთ.</a:t>
            </a:r>
            <a:endParaRPr b="0" i="0" sz="1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978408" y="4069080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4.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1344168" y="4069080"/>
            <a:ext cx="4069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Noto Sans Georgian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ძირითადი აქტივობა II / პრაქტიკა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89" name="Google Shape;89;p3"/>
          <p:cNvCxnSpPr/>
          <p:nvPr/>
        </p:nvCxnSpPr>
        <p:spPr>
          <a:xfrm>
            <a:off x="5541265" y="4197097"/>
            <a:ext cx="12345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0" name="Google Shape;90;p3"/>
          <p:cNvSpPr/>
          <p:nvPr/>
        </p:nvSpPr>
        <p:spPr>
          <a:xfrm>
            <a:off x="6903720" y="406908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Noto Sans Georgian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15 წთ.</a:t>
            </a:r>
            <a:endParaRPr b="0" i="0" sz="1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978408" y="4754880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5.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1344168" y="4754880"/>
            <a:ext cx="4069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Noto Sans Georgian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შეჯამება / გამოსასვლელი ბილეთი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93" name="Google Shape;93;p3"/>
          <p:cNvCxnSpPr/>
          <p:nvPr/>
        </p:nvCxnSpPr>
        <p:spPr>
          <a:xfrm>
            <a:off x="5577840" y="4919472"/>
            <a:ext cx="1234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4" name="Google Shape;94;p3"/>
          <p:cNvSpPr/>
          <p:nvPr/>
        </p:nvSpPr>
        <p:spPr>
          <a:xfrm>
            <a:off x="6903720" y="475488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Noto Sans Georgian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5 წთ.</a:t>
            </a:r>
            <a:endParaRPr b="0" i="0" sz="1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5559552" y="5486400"/>
            <a:ext cx="594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სულ: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96" name="Google Shape;96;p3"/>
          <p:cNvCxnSpPr/>
          <p:nvPr/>
        </p:nvCxnSpPr>
        <p:spPr>
          <a:xfrm>
            <a:off x="6172200" y="5641848"/>
            <a:ext cx="914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7" name="Google Shape;97;p3"/>
          <p:cNvSpPr/>
          <p:nvPr/>
        </p:nvSpPr>
        <p:spPr>
          <a:xfrm>
            <a:off x="7178040" y="548640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Noto Sans Georgian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45 წთ.</a:t>
            </a:r>
            <a:endParaRPr b="0" i="0" sz="1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cap="flat" cmpd="sng" w="10150">
            <a:solidFill>
              <a:srgbClr val="FFF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4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6BBEC1"/>
          </a:solidFill>
          <a:ln cap="flat" cmpd="sng" w="10150">
            <a:solidFill>
              <a:srgbClr val="6BBEC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"/>
          <p:cNvSpPr/>
          <p:nvPr/>
        </p:nvSpPr>
        <p:spPr>
          <a:xfrm>
            <a:off x="15544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"/>
          <p:cNvSpPr/>
          <p:nvPr/>
        </p:nvSpPr>
        <p:spPr>
          <a:xfrm>
            <a:off x="10268712" y="182880"/>
            <a:ext cx="74980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750"/>
              <a:buFont typeface="Noto Sans Georgian"/>
              <a:buNone/>
            </a:pPr>
            <a:r>
              <a:rPr b="0" i="0" lang="en-US" sz="75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75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10195560" y="438912"/>
            <a:ext cx="12984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Noto Sans Georgian"/>
              <a:buNone/>
            </a:pPr>
            <a:r>
              <a:rPr b="1" i="0" lang="en-US" sz="20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0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10122408" y="841248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40"/>
              <a:buFont typeface="Noto Sans Georgian"/>
              <a:buNone/>
            </a:pPr>
            <a:r>
              <a:rPr b="0" i="0" lang="en-US" sz="54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54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658368" y="384048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BEC1"/>
              </a:buClr>
              <a:buSzPts val="900"/>
              <a:buFont typeface="Noto Sans Georgian"/>
              <a:buNone/>
            </a:pPr>
            <a:r>
              <a:rPr b="1" i="0" lang="en-US" sz="900" u="none" cap="none" strike="noStrike">
                <a:solidFill>
                  <a:srgbClr val="6BBEC1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აქტივობები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658368" y="629107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800"/>
              <a:buFont typeface="Noto Sans Georgian"/>
              <a:buNone/>
            </a:pPr>
            <a:r>
              <a:rPr b="1" i="0" lang="en-US" sz="8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04</a:t>
            </a:r>
            <a:endParaRPr b="0" i="0" sz="8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11" name="Google Shape;111;p4"/>
          <p:cNvCxnSpPr/>
          <p:nvPr/>
        </p:nvCxnSpPr>
        <p:spPr>
          <a:xfrm>
            <a:off x="1170432" y="6391656"/>
            <a:ext cx="9601200" cy="0"/>
          </a:xfrm>
          <a:prstGeom prst="straightConnector1">
            <a:avLst/>
          </a:prstGeom>
          <a:noFill/>
          <a:ln cap="flat" cmpd="sng" w="95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2" name="Google Shape;112;p4"/>
          <p:cNvSpPr/>
          <p:nvPr/>
        </p:nvSpPr>
        <p:spPr>
          <a:xfrm>
            <a:off x="713232" y="850392"/>
            <a:ext cx="80467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900"/>
              <a:buFont typeface="Noto Sans Georgian"/>
              <a:buNone/>
            </a:pPr>
            <a:r>
              <a:rPr b="1" i="0" lang="en-US" sz="29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აქტივობების აღწერა</a:t>
            </a:r>
            <a:endParaRPr b="0" i="0" sz="2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749808" y="1719072"/>
            <a:ext cx="4983480" cy="162763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rgbClr val="111827"/>
                </a:solidFill>
                <a:latin typeface="Noto Sans Georgian"/>
              </a:rPr>
              <a:t>პოტენციური ენერგიის გამოთვლა</a:t>
            </a:r>
            <a:endParaRPr/>
          </a:p>
        </p:txBody>
      </p:sp>
      <p:sp>
        <p:nvSpPr>
          <p:cNvPr id="114" name="Google Shape;114;p4"/>
          <p:cNvSpPr/>
          <p:nvPr/>
        </p:nvSpPr>
        <p:spPr>
          <a:xfrm>
            <a:off x="749808" y="1719072"/>
            <a:ext cx="109728" cy="1627632"/>
          </a:xfrm>
          <a:prstGeom prst="roundRect">
            <a:avLst>
              <a:gd fmla="val 16667" name="adj"/>
            </a:avLst>
          </a:prstGeom>
          <a:solidFill>
            <a:srgbClr val="EAF6F5"/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"/>
          <p:cNvSpPr/>
          <p:nvPr/>
        </p:nvSpPr>
        <p:spPr>
          <a:xfrm>
            <a:off x="1005840" y="1920240"/>
            <a:ext cx="4297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BEC1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6BBEC1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აქტივობა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16" name="Google Shape;116;p4"/>
          <p:cNvCxnSpPr/>
          <p:nvPr/>
        </p:nvCxnSpPr>
        <p:spPr>
          <a:xfrm>
            <a:off x="1005840" y="2542032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7" name="Google Shape;117;p4"/>
          <p:cNvCxnSpPr/>
          <p:nvPr/>
        </p:nvCxnSpPr>
        <p:spPr>
          <a:xfrm>
            <a:off x="1005840" y="2926080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8" name="Google Shape;118;p4"/>
          <p:cNvSpPr/>
          <p:nvPr/>
        </p:nvSpPr>
        <p:spPr>
          <a:xfrm>
            <a:off x="6163056" y="1719072"/>
            <a:ext cx="4983480" cy="162763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11827"/>
                </a:solidFill>
                <a:latin typeface="Noto Sans Georgian"/>
              </a:rPr>
              <a:t>1. თეორია: Eპ=mgh — სიმაღლის პოტენციური ენერგია.</a:t>
            </a:r>
            <a:endParaRPr/>
          </a:p>
          <a:p>
            <a:r>
              <a:rPr sz="1000">
                <a:solidFill>
                  <a:srgbClr val="111827"/>
                </a:solidFill>
                <a:latin typeface="Noto Sans Georgian"/>
              </a:rPr>
              <a:t>2. მაგალითი: m=1 კგ, h=2 მ → Eპ=20 ჯ.</a:t>
            </a:r>
          </a:p>
          <a:p>
            <a:r>
              <a:rPr sz="1000">
                <a:solidFill>
                  <a:srgbClr val="111827"/>
                </a:solidFill>
                <a:latin typeface="Noto Sans Georgian"/>
              </a:rPr>
              <a:t>3. ამოცანები: m=0,5 კგ, h=4 მ-ზე იპოვეთ Eპ.</a:t>
            </a:r>
          </a:p>
          <a:p>
            <a:r>
              <a:rPr sz="1000">
                <a:solidFill>
                  <a:srgbClr val="111827"/>
                </a:solidFill>
                <a:latin typeface="Noto Sans Georgian"/>
              </a:rPr>
              <a:t>4. ცდა: ზამბარის შეკუმშვა-განთავისუფლება.</a:t>
            </a:r>
          </a:p>
        </p:txBody>
      </p:sp>
      <p:sp>
        <p:nvSpPr>
          <p:cNvPr id="119" name="Google Shape;119;p4"/>
          <p:cNvSpPr/>
          <p:nvPr/>
        </p:nvSpPr>
        <p:spPr>
          <a:xfrm>
            <a:off x="6163056" y="1719072"/>
            <a:ext cx="109728" cy="1627632"/>
          </a:xfrm>
          <a:prstGeom prst="roundRect">
            <a:avLst>
              <a:gd fmla="val 16667" name="adj"/>
            </a:avLst>
          </a:prstGeom>
          <a:solidFill>
            <a:srgbClr val="F1E8FA"/>
          </a:solidFill>
          <a:ln cap="flat" cmpd="sng" w="10150">
            <a:solidFill>
              <a:srgbClr val="F1E8F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4"/>
          <p:cNvSpPr/>
          <p:nvPr/>
        </p:nvSpPr>
        <p:spPr>
          <a:xfrm>
            <a:off x="6419088" y="1920240"/>
            <a:ext cx="4297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ინსტრუქცია მოსწავლეებისთვის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21" name="Google Shape;121;p4"/>
          <p:cNvCxnSpPr/>
          <p:nvPr/>
        </p:nvCxnSpPr>
        <p:spPr>
          <a:xfrm>
            <a:off x="6419088" y="2542032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2" name="Google Shape;122;p4"/>
          <p:cNvCxnSpPr/>
          <p:nvPr/>
        </p:nvCxnSpPr>
        <p:spPr>
          <a:xfrm>
            <a:off x="6419088" y="2926080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3" name="Google Shape;123;p4"/>
          <p:cNvSpPr/>
          <p:nvPr/>
        </p:nvSpPr>
        <p:spPr>
          <a:xfrm>
            <a:off x="749808" y="3803904"/>
            <a:ext cx="4983480" cy="162763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11827"/>
                </a:solidFill>
                <a:latin typeface="Noto Sans Georgian"/>
              </a:rPr>
              <a:t>დემონსტრაცია + წყვილური მუშაობა</a:t>
            </a:r>
            <a:endParaRPr/>
          </a:p>
        </p:txBody>
      </p:sp>
      <p:sp>
        <p:nvSpPr>
          <p:cNvPr id="124" name="Google Shape;124;p4"/>
          <p:cNvSpPr/>
          <p:nvPr/>
        </p:nvSpPr>
        <p:spPr>
          <a:xfrm>
            <a:off x="749808" y="3803904"/>
            <a:ext cx="109728" cy="1627632"/>
          </a:xfrm>
          <a:prstGeom prst="roundRect">
            <a:avLst>
              <a:gd fmla="val 16667" name="adj"/>
            </a:avLst>
          </a:prstGeom>
          <a:solidFill>
            <a:srgbClr val="FFF1C2"/>
          </a:solidFill>
          <a:ln cap="flat" cmpd="sng" w="10150">
            <a:solidFill>
              <a:srgbClr val="FFF1C2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4"/>
          <p:cNvSpPr/>
          <p:nvPr/>
        </p:nvSpPr>
        <p:spPr>
          <a:xfrm>
            <a:off x="1005840" y="4005072"/>
            <a:ext cx="4297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ფორმატი / ორგანიზება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26" name="Google Shape;126;p4"/>
          <p:cNvCxnSpPr/>
          <p:nvPr/>
        </p:nvCxnSpPr>
        <p:spPr>
          <a:xfrm>
            <a:off x="1005840" y="4626864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7" name="Google Shape;127;p4"/>
          <p:cNvCxnSpPr/>
          <p:nvPr/>
        </p:nvCxnSpPr>
        <p:spPr>
          <a:xfrm>
            <a:off x="1005840" y="5010912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8" name="Google Shape;128;p4"/>
          <p:cNvSpPr/>
          <p:nvPr/>
        </p:nvSpPr>
        <p:spPr>
          <a:xfrm>
            <a:off x="6163056" y="3803904"/>
            <a:ext cx="4983480" cy="162763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11827"/>
                </a:solidFill>
                <a:latin typeface="Noto Sans Georgian"/>
              </a:rPr>
              <a:t>ზამბარა, სამუშაო ფურცელი</a:t>
            </a:r>
            <a:endParaRPr/>
          </a:p>
        </p:txBody>
      </p:sp>
      <p:sp>
        <p:nvSpPr>
          <p:cNvPr id="129" name="Google Shape;129;p4"/>
          <p:cNvSpPr/>
          <p:nvPr/>
        </p:nvSpPr>
        <p:spPr>
          <a:xfrm>
            <a:off x="6163056" y="3803904"/>
            <a:ext cx="109728" cy="1627632"/>
          </a:xfrm>
          <a:prstGeom prst="roundRect">
            <a:avLst>
              <a:gd fmla="val 16667" name="adj"/>
            </a:avLst>
          </a:prstGeom>
          <a:solidFill>
            <a:srgbClr val="FFE4DF"/>
          </a:solidFill>
          <a:ln cap="flat" cmpd="sng" w="10150">
            <a:solidFill>
              <a:srgbClr val="FFE4D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4"/>
          <p:cNvSpPr/>
          <p:nvPr/>
        </p:nvSpPr>
        <p:spPr>
          <a:xfrm>
            <a:off x="6419088" y="4005072"/>
            <a:ext cx="4297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მასალა / რესურსი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31" name="Google Shape;131;p4"/>
          <p:cNvCxnSpPr/>
          <p:nvPr/>
        </p:nvCxnSpPr>
        <p:spPr>
          <a:xfrm>
            <a:off x="6419088" y="4626864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2" name="Google Shape;132;p4"/>
          <p:cNvCxnSpPr/>
          <p:nvPr/>
        </p:nvCxnSpPr>
        <p:spPr>
          <a:xfrm>
            <a:off x="6419088" y="5010912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cap="flat" cmpd="sng" w="10150">
            <a:solidFill>
              <a:srgbClr val="FFF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7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164B6A"/>
          </a:solidFill>
          <a:ln cap="flat" cmpd="sng" w="10150">
            <a:solidFill>
              <a:srgbClr val="164B6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7"/>
          <p:cNvSpPr/>
          <p:nvPr/>
        </p:nvSpPr>
        <p:spPr>
          <a:xfrm>
            <a:off x="15544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7"/>
          <p:cNvSpPr/>
          <p:nvPr/>
        </p:nvSpPr>
        <p:spPr>
          <a:xfrm>
            <a:off x="10268712" y="182880"/>
            <a:ext cx="74980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750"/>
              <a:buFont typeface="Noto Sans Georgian"/>
              <a:buNone/>
            </a:pPr>
            <a:r>
              <a:rPr b="0" i="0" lang="en-US" sz="75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75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10195560" y="438912"/>
            <a:ext cx="12984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Noto Sans Georgian"/>
              <a:buNone/>
            </a:pPr>
            <a:r>
              <a:rPr b="1" i="0" lang="en-US" sz="20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0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10122408" y="841248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40"/>
              <a:buFont typeface="Noto Sans Georgian"/>
              <a:buNone/>
            </a:pPr>
            <a:r>
              <a:rPr b="0" i="0" lang="en-US" sz="54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54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658368" y="384048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900"/>
              <a:buFont typeface="Noto Sans Georgian"/>
              <a:buNone/>
            </a:pPr>
            <a:r>
              <a:rPr b="1" i="0" lang="en-US" sz="9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რეფლექსია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713224" y="850400"/>
            <a:ext cx="88380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900"/>
              <a:buFont typeface="Noto Sans Georgian"/>
              <a:buNone/>
            </a:pPr>
            <a:r>
              <a:rPr b="1" i="0" lang="en-US" sz="29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მასწავლებლის</a:t>
            </a:r>
            <a:r>
              <a:rPr b="1" lang="en-US" sz="2900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/ მოსწავლის </a:t>
            </a:r>
            <a:endParaRPr b="1" sz="2900">
              <a:solidFill>
                <a:srgbClr val="111827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900"/>
              <a:buFont typeface="Noto Sans Georgian"/>
              <a:buNone/>
            </a:pPr>
            <a:r>
              <a:rPr b="1" i="0" lang="en-US" sz="29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მოკლე რეფლექსია</a:t>
            </a:r>
            <a:endParaRPr b="0" i="0" sz="2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749808" y="1783080"/>
            <a:ext cx="7680960" cy="10515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7"/>
          <p:cNvSpPr/>
          <p:nvPr/>
        </p:nvSpPr>
        <p:spPr>
          <a:xfrm>
            <a:off x="749808" y="1783080"/>
            <a:ext cx="109728" cy="1051560"/>
          </a:xfrm>
          <a:prstGeom prst="roundRect">
            <a:avLst>
              <a:gd fmla="val 16667" name="adj"/>
            </a:avLst>
          </a:prstGeom>
          <a:solidFill>
            <a:srgbClr val="EAF6F5"/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7"/>
          <p:cNvSpPr/>
          <p:nvPr/>
        </p:nvSpPr>
        <p:spPr>
          <a:xfrm>
            <a:off x="1005840" y="2011680"/>
            <a:ext cx="4206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რა გამოვიდა კარგად?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49" name="Google Shape;149;p7"/>
          <p:cNvCxnSpPr/>
          <p:nvPr/>
        </p:nvCxnSpPr>
        <p:spPr>
          <a:xfrm>
            <a:off x="4572000" y="2258568"/>
            <a:ext cx="333756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0" name="Google Shape;150;p7"/>
          <p:cNvSpPr/>
          <p:nvPr/>
        </p:nvSpPr>
        <p:spPr>
          <a:xfrm>
            <a:off x="749808" y="3200400"/>
            <a:ext cx="7680960" cy="10515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7"/>
          <p:cNvSpPr/>
          <p:nvPr/>
        </p:nvSpPr>
        <p:spPr>
          <a:xfrm>
            <a:off x="749808" y="3200400"/>
            <a:ext cx="109728" cy="1051560"/>
          </a:xfrm>
          <a:prstGeom prst="roundRect">
            <a:avLst>
              <a:gd fmla="val 16667" name="adj"/>
            </a:avLst>
          </a:prstGeom>
          <a:solidFill>
            <a:srgbClr val="EAF6F5"/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7"/>
          <p:cNvSpPr/>
          <p:nvPr/>
        </p:nvSpPr>
        <p:spPr>
          <a:xfrm>
            <a:off x="1005840" y="3429000"/>
            <a:ext cx="4206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რა საჭიროებს შეცვლას?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53" name="Google Shape;153;p7"/>
          <p:cNvCxnSpPr/>
          <p:nvPr/>
        </p:nvCxnSpPr>
        <p:spPr>
          <a:xfrm>
            <a:off x="4572000" y="3675888"/>
            <a:ext cx="333756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4" name="Google Shape;154;p7"/>
          <p:cNvSpPr/>
          <p:nvPr/>
        </p:nvSpPr>
        <p:spPr>
          <a:xfrm>
            <a:off x="749808" y="4617720"/>
            <a:ext cx="7680960" cy="10515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7"/>
          <p:cNvSpPr/>
          <p:nvPr/>
        </p:nvSpPr>
        <p:spPr>
          <a:xfrm>
            <a:off x="749808" y="4617720"/>
            <a:ext cx="109728" cy="1051560"/>
          </a:xfrm>
          <a:prstGeom prst="roundRect">
            <a:avLst>
              <a:gd fmla="val 16667" name="adj"/>
            </a:avLst>
          </a:prstGeom>
          <a:solidFill>
            <a:srgbClr val="EAF6F5"/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7"/>
          <p:cNvSpPr/>
          <p:nvPr/>
        </p:nvSpPr>
        <p:spPr>
          <a:xfrm>
            <a:off x="1005840" y="4846320"/>
            <a:ext cx="4206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რას გავითვალისწინებ შემდეგ ჯერზე?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57" name="Google Shape;157;p7"/>
          <p:cNvCxnSpPr/>
          <p:nvPr/>
        </p:nvCxnSpPr>
        <p:spPr>
          <a:xfrm>
            <a:off x="4572000" y="5093208"/>
            <a:ext cx="333756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8" name="Google Shape;158;p7"/>
          <p:cNvSpPr/>
          <p:nvPr/>
        </p:nvSpPr>
        <p:spPr>
          <a:xfrm>
            <a:off x="8942832" y="2011680"/>
            <a:ext cx="2057400" cy="3063240"/>
          </a:xfrm>
          <a:prstGeom prst="roundRect">
            <a:avLst>
              <a:gd fmla="val 16667" name="adj"/>
            </a:avLst>
          </a:prstGeom>
          <a:solidFill>
            <a:srgbClr val="EAF6F5">
              <a:alpha val="94902"/>
            </a:srgbClr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pptx_extract/ppt/media/image3.png" id="159" name="Google Shape;15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98280" y="2665476"/>
            <a:ext cx="1737360" cy="12344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cap="flat" cmpd="sng" w="10150">
            <a:solidFill>
              <a:srgbClr val="FFF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6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6"/>
          <p:cNvSpPr/>
          <p:nvPr/>
        </p:nvSpPr>
        <p:spPr>
          <a:xfrm>
            <a:off x="15544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6"/>
          <p:cNvSpPr/>
          <p:nvPr/>
        </p:nvSpPr>
        <p:spPr>
          <a:xfrm>
            <a:off x="10268712" y="182880"/>
            <a:ext cx="74980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750"/>
              <a:buFont typeface="Noto Sans Georgian"/>
              <a:buNone/>
            </a:pPr>
            <a:r>
              <a:rPr b="0" i="0" lang="en-US" sz="75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75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10195560" y="438912"/>
            <a:ext cx="12984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Noto Sans Georgian"/>
              <a:buNone/>
            </a:pPr>
            <a:r>
              <a:rPr b="1" i="0" lang="en-US" sz="20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0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10122408" y="841248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40"/>
              <a:buFont typeface="Noto Sans Georgian"/>
              <a:buNone/>
            </a:pPr>
            <a:r>
              <a:rPr b="0" i="0" lang="en-US" sz="54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54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658368" y="384048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900"/>
              <a:buFont typeface="Noto Sans Georgian"/>
              <a:buNone/>
            </a:pPr>
            <a:r>
              <a:rPr b="1" i="0" lang="en-US" sz="900" u="none" cap="none" strike="noStrike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დავალება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713232" y="850392"/>
            <a:ext cx="80467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900"/>
              <a:buFont typeface="Noto Sans Georgian"/>
              <a:buNone/>
            </a:pPr>
            <a:r>
              <a:rPr b="1" i="0" lang="en-US" sz="29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დავალება და შემდეგი ნაბიჯი</a:t>
            </a:r>
            <a:endParaRPr b="0" i="0" sz="2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749808" y="1691640"/>
            <a:ext cx="6537960" cy="42519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6"/>
          <p:cNvSpPr/>
          <p:nvPr/>
        </p:nvSpPr>
        <p:spPr>
          <a:xfrm>
            <a:off x="749808" y="1691640"/>
            <a:ext cx="109728" cy="4251960"/>
          </a:xfrm>
          <a:prstGeom prst="roundRect">
            <a:avLst>
              <a:gd fmla="val 16667" name="adj"/>
            </a:avLst>
          </a:prstGeom>
          <a:solidFill>
            <a:srgbClr val="FFF1C2"/>
          </a:solidFill>
          <a:ln cap="flat" cmpd="sng" w="10150">
            <a:solidFill>
              <a:srgbClr val="FFF1C2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6"/>
          <p:cNvSpPr/>
          <p:nvPr/>
        </p:nvSpPr>
        <p:spPr>
          <a:xfrm>
            <a:off x="1005840" y="1938528"/>
            <a:ext cx="2834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დავალების ფორმულირება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76" name="Google Shape;176;p6"/>
          <p:cNvCxnSpPr/>
          <p:nvPr/>
        </p:nvCxnSpPr>
        <p:spPr>
          <a:xfrm>
            <a:off x="1005840" y="2633472"/>
            <a:ext cx="5806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7" name="Google Shape;177;p6"/>
          <p:cNvCxnSpPr/>
          <p:nvPr/>
        </p:nvCxnSpPr>
        <p:spPr>
          <a:xfrm>
            <a:off x="1005840" y="3218688"/>
            <a:ext cx="5806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8" name="Google Shape;178;p6"/>
          <p:cNvCxnSpPr/>
          <p:nvPr/>
        </p:nvCxnSpPr>
        <p:spPr>
          <a:xfrm>
            <a:off x="1005840" y="3803904"/>
            <a:ext cx="5806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9" name="Google Shape;179;p6"/>
          <p:cNvSpPr/>
          <p:nvPr/>
        </p:nvSpPr>
        <p:spPr>
          <a:xfrm>
            <a:off x="1005840" y="4590288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1300"/>
              <a:buFont typeface="Noto Sans Georgian"/>
              <a:buNone/>
            </a:pPr>
            <a:r>
              <a:rPr b="1" lang="en-US" sz="1300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დავალების კავშირი მიზანთან 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80" name="Google Shape;180;p6"/>
          <p:cNvCxnSpPr/>
          <p:nvPr/>
        </p:nvCxnSpPr>
        <p:spPr>
          <a:xfrm>
            <a:off x="1005840" y="5266944"/>
            <a:ext cx="5806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1" name="Google Shape;181;p6"/>
          <p:cNvSpPr/>
          <p:nvPr/>
        </p:nvSpPr>
        <p:spPr>
          <a:xfrm>
            <a:off x="8001000" y="1874520"/>
            <a:ext cx="2926080" cy="3520440"/>
          </a:xfrm>
          <a:prstGeom prst="roundRect">
            <a:avLst>
              <a:gd fmla="val 16667" name="adj"/>
            </a:avLst>
          </a:prstGeom>
          <a:solidFill>
            <a:srgbClr val="FFF1C2">
              <a:alpha val="94902"/>
            </a:srgbClr>
          </a:solidFill>
          <a:ln cap="flat" cmpd="sng" w="10150">
            <a:solidFill>
              <a:srgbClr val="FFF1C2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pptx_extract/ppt/media/image2.png" id="182" name="Google Shape;18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49640" y="2595537"/>
            <a:ext cx="1920240" cy="1438326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TextBox 182"/>
          <p:cNvSpPr txBox="1"/>
          <p:nvPr/>
        </p:nvSpPr>
        <p:spPr>
          <a:xfrm>
            <a:off x="1005840" y="2280000"/>
            <a:ext cx="5806440" cy="2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11827"/>
                </a:solidFill>
                <a:latin typeface="Noto Sans Georgian"/>
              </a:rPr>
              <a:t>შეადარეთ ორი სხეულის პოტენციური ენერგია სხვადასხვა სიმაღლეზე (გამოთვლით).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1005840" y="4880000"/>
            <a:ext cx="580644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11827"/>
                </a:solidFill>
                <a:latin typeface="Noto Sans Georgian"/>
              </a:rPr>
              <a:t>ამზადებს ენერგიის შენახვის კანონის შემდეგი გაკვეთილისთვის.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2026-09-10T06:09:59Z</dcterms:created>
  <dc:creator>OpenAI</dc:creator>
</cp:coreProperties>
</file>