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12191675"/>
  <p:embeddedFontLst>
    <p:embeddedFont>
      <p:font typeface="Noto Sans Georgian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dnsQgY595LH0cqB+u3xMqjxJd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font" Target="fonts/NotoSansGeorgian-regular.fntdata"/><Relationship Id="rId15" Type="http://schemas.openxmlformats.org/officeDocument/2006/relationships/font" Target="fonts/NotoSansGeorgian-bold.fntdata"/><Relationship Id="rId16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3886200" cy="6858000"/>
          </a:xfrm>
          <a:prstGeom prst="rect">
            <a:avLst/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3886200" y="0"/>
            <a:ext cx="10972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892894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10092690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292486" y="384048"/>
            <a:ext cx="168250" cy="168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035"/>
              <a:buFont typeface="Noto Sans Georgian"/>
              <a:buNone/>
            </a:pPr>
            <a:r>
              <a:rPr b="0" i="0" lang="en-US" sz="1035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103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829800" y="510235"/>
            <a:ext cx="1493215" cy="441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15"/>
              <a:buFont typeface="Noto Sans Georgian"/>
              <a:buNone/>
            </a:pPr>
            <a:r>
              <a:rPr b="1" i="0" lang="en-US" sz="2415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415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9745675" y="941375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13232" y="1097280"/>
            <a:ext cx="557784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800"/>
              <a:buFont typeface="Noto Sans Georgian"/>
              <a:buNone/>
            </a:pPr>
            <a:r>
              <a:rPr b="1" lang="en-US" sz="3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ფიზიკა — XII კლასი</a:t>
            </a:r>
            <a:endParaRPr b="0" i="0" sz="3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768096" y="2880360"/>
            <a:ext cx="47548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29" name="Google Shape;2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69280" y="2050082"/>
            <a:ext cx="5394960" cy="2757837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768096" y="6245352"/>
            <a:ext cx="41148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150"/>
              <a:buFont typeface="Noto Sans Georgian"/>
              <a:buNone/>
            </a:pPr>
            <a:r>
              <a:rPr b="1" i="0" lang="en-US" sz="115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პირველი კვირა</a:t>
            </a:r>
            <a:endParaRPr b="0" i="0" sz="11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0E7490"/>
          </a:solidFill>
          <a:ln cap="flat" cmpd="sng" w="1015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7490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0E749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წლის რუკა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31520" y="15728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მეცნიერული წიგნიერება:</a:t>
            </a:r>
            <a:r>
              <a:rPr lang="en-US" sz="1100">
                <a:solidFill>
                  <a:schemeClr val="dk1"/>
                </a:solidFill>
              </a:rPr>
              <a:t> მოლეკულურ-კინეტიკური თეორიისა და თერმოდინამიკის კანონების ზუსტი გამოყენება.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თანამედროვე ფიზიკის გააზრება:</a:t>
            </a:r>
            <a:r>
              <a:rPr lang="en-US" sz="1100">
                <a:solidFill>
                  <a:schemeClr val="dk1"/>
                </a:solidFill>
              </a:rPr>
              <a:t> კვანტური, ატომური და ბირთვული მოვლენების საფუძვლების შესწავლა.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სამყაროს მასშტაბის ხედვა:</a:t>
            </a:r>
            <a:r>
              <a:rPr lang="en-US" sz="1100">
                <a:solidFill>
                  <a:schemeClr val="dk1"/>
                </a:solidFill>
              </a:rPr>
              <a:t> ვარსკვლავების, შავი ხვრელებისა და სამყაროს აგებულების გააზრება.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საგამოცდო მზაობა:</a:t>
            </a:r>
            <a:r>
              <a:rPr lang="en-US" sz="1100">
                <a:solidFill>
                  <a:schemeClr val="dk1"/>
                </a:solidFill>
              </a:rPr>
              <a:t> ცოდნის სისტემური განმეორება და კომპლექსური ამოცანების ამოხსნის უნარი.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58382" y="17144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58382" y="76810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წლის მიზნები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13648" y="2591001"/>
            <a:ext cx="2423160" cy="1721719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2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საგნის ხედვა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მოლეკულური ფიზიკა:</a:t>
            </a:r>
            <a:r>
              <a:rPr lang="en-US" sz="1100">
                <a:solidFill>
                  <a:schemeClr val="dk1"/>
                </a:solidFill>
              </a:rPr>
              <a:t> იდეალური აირის განტოლება, იზოპროცესები.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თერმოდინამიკა:</a:t>
            </a:r>
            <a:r>
              <a:rPr lang="en-US" sz="1100">
                <a:solidFill>
                  <a:schemeClr val="dk1"/>
                </a:solidFill>
              </a:rPr>
              <a:t> თერმოდინამიკის I კანონი, სითბური ძრავები, ტენიანობა.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კვანტური და ატომური ფიზიკა:</a:t>
            </a:r>
            <a:r>
              <a:rPr lang="en-US" sz="1100">
                <a:solidFill>
                  <a:schemeClr val="dk1"/>
                </a:solidFill>
              </a:rPr>
              <a:t> ფოტოეფექტი, ატომის ბორის მოდელი, რადიოაქტივობა.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ბირთვული ფიზიკა და კოსმოლოგია:</a:t>
            </a:r>
            <a:r>
              <a:rPr lang="en-US" sz="1100">
                <a:solidFill>
                  <a:schemeClr val="dk1"/>
                </a:solidFill>
              </a:rPr>
              <a:t> ბირთვული რეაქციები, დიდი აფეთქება, შავი ხვრელები.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768107" y="18150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1323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რას ვისწავლით წელს?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4.png" id="70" name="Google Shape;7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09560" y="2329041"/>
            <a:ext cx="3977640" cy="240108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3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2" name="Google Shape;72;p3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731520" y="213984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კომპლექსური ამოცანების ამოხსნა:</a:t>
            </a:r>
            <a:r>
              <a:rPr lang="en-US" sz="1100">
                <a:solidFill>
                  <a:schemeClr val="dk1"/>
                </a:solidFill>
              </a:rPr>
              <a:t> ფასდება მრავალსაფეხურიანი გამოთვლები და ფიზიკური მსჯელობა.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და კვლევითი უნარი:</a:t>
            </a:r>
            <a:r>
              <a:rPr lang="en-US" sz="1100">
                <a:solidFill>
                  <a:schemeClr val="dk1"/>
                </a:solidFill>
              </a:rPr>
              <a:t> აირის კანონების ცდით შესწავლისა და გრაფიკის აგების უნარი.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მკაფიო, საგამოცდოზე ორიენტირებული რუბრიკა:</a:t>
            </a:r>
            <a:r>
              <a:rPr lang="en-US" sz="1100">
                <a:solidFill>
                  <a:schemeClr val="dk1"/>
                </a:solidFill>
              </a:rPr>
              <a:t> წინასწარ ცნობილი კრიტერიუმები ყველა ტიპის სამუშაოსთვის.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13232" y="1051579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შეფასება და უკუკავშირი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42832" y="2659545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პროცესი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768095" y="1737357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დემონსტრაციები და სიმულაციები:</a:t>
            </a:r>
            <a:r>
              <a:rPr lang="en-US" sz="1100">
                <a:solidFill>
                  <a:schemeClr val="dk1"/>
                </a:solidFill>
              </a:rPr>
              <a:t> აირის იზოპროცესები, ფოტოეფექტი, რადიოაქტიური დაშლა.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ლაბორატორიული სამუშაოები:</a:t>
            </a:r>
            <a:r>
              <a:rPr lang="en-US" sz="1100">
                <a:solidFill>
                  <a:schemeClr val="dk1"/>
                </a:solidFill>
              </a:rPr>
              <a:t> აირის კანონების შესწავლა და გრაფიკის აგება.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ამოცანების ამოხსნა:</a:t>
            </a:r>
            <a:r>
              <a:rPr lang="en-US" sz="1100">
                <a:solidFill>
                  <a:schemeClr val="dk1"/>
                </a:solidFill>
              </a:rPr>
              <a:t> თერმოდინამიკა, კვანტური და ბირთვული ფიზიკა.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განმეორება-განზოგადება:</a:t>
            </a:r>
            <a:r>
              <a:rPr lang="en-US" sz="1100">
                <a:solidFill>
                  <a:schemeClr val="dk1"/>
                </a:solidFill>
              </a:rPr>
              <a:t> შუალედური, სემესტრული და წლიური საკონტროლო სამუშაოები.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658382" y="1687057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658382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გაკვეთილები და დავალებები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1.png"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58200" y="2259581"/>
            <a:ext cx="2834640" cy="228397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5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4" name="Google Shape;114;p5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"/>
          <p:cNvSpPr/>
          <p:nvPr/>
        </p:nvSpPr>
        <p:spPr>
          <a:xfrm>
            <a:off x="20290" y="10145"/>
            <a:ext cx="12191700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რესურსები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768095" y="1883795"/>
            <a:ext cx="699510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სახელმძღვანელო და მასალები:</a:t>
            </a:r>
            <a:r>
              <a:rPr lang="en-US" sz="1100">
                <a:solidFill>
                  <a:schemeClr val="dk1"/>
                </a:solidFill>
              </a:rPr>
              <a:t> „ფიზიკა-12“, ცხრილები, ონლაინ სიმულაციები აირის კანონებზე.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დამხმარე რესურსები:</a:t>
            </a:r>
            <a:r>
              <a:rPr lang="en-US" sz="1100">
                <a:solidFill>
                  <a:schemeClr val="dk1"/>
                </a:solidFill>
              </a:rPr>
              <a:t> ასტროფიზიკისა და ბირთვული ფიზიკის საინფორმაციო მასალები, ვიდეო ლექციები.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704107" y="1883795"/>
            <a:ext cx="164700" cy="342900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704107" y="923554"/>
            <a:ext cx="73608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და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F1C2">
              <a:alpha val="90980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33" name="Google Shape;13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7053" y="2029968"/>
            <a:ext cx="2588334" cy="292608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6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5" name="Google Shape;135;p6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მტკიცებულებები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713232" y="1051560"/>
            <a:ext cx="1005840" cy="384048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400"/>
              <a:buFont typeface="Noto Sans Georgian"/>
              <a:buNone/>
            </a:pPr>
            <a:r>
              <a:rPr b="1" i="0" lang="en-US" sz="24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 პორტფოლიო / ლაბორატორიული ნამუშევრების საქაღალდე</a:t>
            </a:r>
            <a:endParaRPr b="0" i="0" sz="2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EAF6F5">
              <a:alpha val="909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55" name="Google Shape;1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23960" y="2573930"/>
            <a:ext cx="2148840" cy="160955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7" name="Google Shape;167;p8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ჩართულობა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„სამყაროს მასშტაბი“:</a:t>
            </a:r>
            <a:r>
              <a:rPr lang="en-US" sz="1100">
                <a:solidFill>
                  <a:schemeClr val="dk1"/>
                </a:solidFill>
              </a:rPr>
              <a:t> დისკუსია შავი ხვრელების, გალაქტიკებისა და დიდი აფეთქების შესახებ.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ფოტოეფექტის ვირტუალური ლაბორატორია:</a:t>
            </a:r>
            <a:r>
              <a:rPr lang="en-US" sz="1100">
                <a:solidFill>
                  <a:schemeClr val="dk1"/>
                </a:solidFill>
              </a:rPr>
              <a:t> სიმულაციით ფოტონის ენერგიისა და სიხშირის კავშირის კვლევა.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„ბირთვული დეტექტივი“:</a:t>
            </a:r>
            <a:r>
              <a:rPr lang="en-US" sz="1100">
                <a:solidFill>
                  <a:schemeClr val="dk1"/>
                </a:solidFill>
              </a:rPr>
              <a:t> რადიოაქტიური დაშლისა და ნახევარდაშლის პერიოდის ამოცანები თამაშის ფორმატში.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ხალისიანი აქტივობები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1E8FA">
              <a:alpha val="90980"/>
            </a:srgbClr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6.png"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0" y="2525137"/>
            <a:ext cx="3429000" cy="175286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8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08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"/>
          <p:cNvSpPr/>
          <p:nvPr/>
        </p:nvSpPr>
        <p:spPr>
          <a:xfrm>
            <a:off x="10341864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10515600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10689336" y="274320"/>
            <a:ext cx="146304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0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10287000" y="384048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100"/>
              <a:buFont typeface="Noto Sans Georgian"/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10213848" y="758952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658368" y="3931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შეთანხმებები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713232" y="2331720"/>
            <a:ext cx="6995160" cy="3429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8E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გუნდურობა და პატივისცემა:</a:t>
            </a:r>
            <a:r>
              <a:rPr lang="en-US" sz="1100">
                <a:solidFill>
                  <a:schemeClr val="dk1"/>
                </a:solidFill>
              </a:rPr>
              <a:t> ერთმანეთს ვეხმარებით რთული თემების გააზრებაში.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აქტიური ჩართულობა:</a:t>
            </a:r>
            <a:r>
              <a:rPr lang="en-US" sz="1100">
                <a:solidFill>
                  <a:schemeClr val="dk1"/>
                </a:solidFill>
              </a:rPr>
              <a:t> თამამად ვსვამთ კითხვებს და ვმსჯელობთ საგამოცდო ამოცანებზე.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მზადყოფნა და პასუხისმგებლობა:</a:t>
            </a:r>
            <a:r>
              <a:rPr lang="en-US" sz="1100">
                <a:solidFill>
                  <a:schemeClr val="dk1"/>
                </a:solidFill>
              </a:rPr>
              <a:t> გაკვეთილზე გვაქვს კალკულატორი და საჭირო მასალები, დავალებებს ვაბარებთ დროულად.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13232" y="2331720"/>
            <a:ext cx="164592" cy="34290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9"/>
          <p:cNvSpPr/>
          <p:nvPr/>
        </p:nvSpPr>
        <p:spPr>
          <a:xfrm>
            <a:off x="713232" y="1517904"/>
            <a:ext cx="73609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700"/>
              <a:buFont typeface="Noto Sans Georgian"/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წესები / შეთანხმებები / კითხვები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302752" y="2011680"/>
            <a:ext cx="2971800" cy="3291840"/>
          </a:xfrm>
          <a:prstGeom prst="roundRect">
            <a:avLst>
              <a:gd fmla="val 16667" name="adj"/>
            </a:avLst>
          </a:prstGeom>
          <a:solidFill>
            <a:srgbClr val="FFE4DF">
              <a:alpha val="90980"/>
            </a:srgbClr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197" name="Google Shape;19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496" y="2121938"/>
            <a:ext cx="2514600" cy="2842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9"/>
          <p:cNvSpPr/>
          <p:nvPr/>
        </p:nvSpPr>
        <p:spPr>
          <a:xfrm>
            <a:off x="704088" y="6281928"/>
            <a:ext cx="411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09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99" name="Google Shape;199;p9"/>
          <p:cNvCxnSpPr/>
          <p:nvPr/>
        </p:nvCxnSpPr>
        <p:spPr>
          <a:xfrm>
            <a:off x="1143000" y="6382512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2026-09-10T05:56:14Z</dcterms:created>
  <dc:creator>OpenAI</dc:creator>
</cp:coreProperties>
</file>