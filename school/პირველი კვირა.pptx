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Noto Sans Georgian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dnsQgY595LH0cqB+u3xMqjxJd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otoSansGeorgian-bold.fntdata"/><Relationship Id="rId14" Type="http://schemas.openxmlformats.org/officeDocument/2006/relationships/font" Target="fonts/NotoSansGeorgian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886200" y="0"/>
            <a:ext cx="10972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892894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092690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292486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829800" y="510235"/>
            <a:ext cx="1493215" cy="441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15"/>
              <a:buFont typeface="Noto Sans Georgian"/>
              <a:buNone/>
            </a:pPr>
            <a:r>
              <a:rPr b="1" i="0" lang="en-US" sz="2415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41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745675" y="941375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1097280"/>
            <a:ext cx="55778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800"/>
              <a:buFont typeface="Noto Sans Georgian"/>
              <a:buNone/>
            </a:pPr>
            <a:r>
              <a:rPr b="1" lang="en-US" sz="3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საორგანიზაციო შეხვედრა</a:t>
            </a:r>
            <a:endParaRPr b="0" i="0" sz="3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68096" y="288036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6.png"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2050082"/>
            <a:ext cx="5394960" cy="275783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768096" y="624535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150"/>
              <a:buFont typeface="Noto Sans Georgian"/>
              <a:buNone/>
            </a:pPr>
            <a:r>
              <a:rPr b="1" i="0" lang="en-US" sz="115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ვიცი · ვაზროვნებ · ვმოქმედებ</a:t>
            </a:r>
            <a:endParaRPr b="0" i="0" sz="11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E7490"/>
          </a:solidFill>
          <a:ln cap="flat" cmpd="sng" w="10150">
            <a:solidFill>
              <a:srgbClr val="0E749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წლის რუკა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31520" y="157289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სივრცითი აზროვნება:</a:t>
            </a:r>
            <a:r>
              <a:rPr lang="en-US" sz="1100">
                <a:solidFill>
                  <a:schemeClr val="dk1"/>
                </a:solidFill>
              </a:rPr>
              <a:t> რუკის კითხვა, კოორდინატების განსაზღვრა და მასშტაბის პრაქტიკული გამოყენება.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ეკოლოგიური ცნობიერება:</a:t>
            </a:r>
            <a:r>
              <a:rPr lang="en-US" sz="1100">
                <a:solidFill>
                  <a:schemeClr val="dk1"/>
                </a:solidFill>
              </a:rPr>
              <a:t> კლიმატის ცვლილების, ბუნებრივი კატასტროფებისა და მდგრადი განვითარების გააზრება.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კავშირების ანალიზი:</a:t>
            </a:r>
            <a:r>
              <a:rPr lang="en-US" sz="1100">
                <a:solidFill>
                  <a:schemeClr val="dk1"/>
                </a:solidFill>
              </a:rPr>
              <a:t> ბუნებრივ გარემოსა და ადამიანის სამეურნეო საქმიანობას შორის მიზეზ-შედეგობრიობის დანახვა.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ინტერაქციული ჩართულობა:</a:t>
            </a:r>
            <a:r>
              <a:rPr lang="en-US" sz="1100">
                <a:solidFill>
                  <a:schemeClr val="dk1"/>
                </a:solidFill>
              </a:rPr>
              <a:t> ცოდნის სისტემატური შემოწმება ციფრული ქვიზებით.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58382" y="17144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58382" y="76810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წლის მიზნები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3648" y="2591001"/>
            <a:ext cx="2423160" cy="172171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საგნის ხედვა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68095" y="1737357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გლაციოლოგიური პროცესების კვლევა:</a:t>
            </a:r>
            <a:r>
              <a:rPr lang="en-US" sz="1100">
                <a:solidFill>
                  <a:schemeClr val="dk1"/>
                </a:solidFill>
              </a:rPr>
              <a:t> მყინვარების დინამიკის, მათი დნობის ტემპებისა და მსოფლიო ოკეანის დონეზე გავლენის სივრცითი ანალიზი.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ენერგეტიკული ტრანზიციის შეფასება:</a:t>
            </a:r>
            <a:r>
              <a:rPr lang="en-US" sz="1100">
                <a:solidFill>
                  <a:schemeClr val="dk1"/>
                </a:solidFill>
              </a:rPr>
              <a:t> განახლებადი ენერგიის წყაროების (მზის, ქარის, ჰიდრო, გეოთერმული, მწვანე წყალბადის) გეოგრაფიული განაწილების, პოტენციალისა და ეკონომიკური ეფექტიანობის გააზრება.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გლობალიზაციის მრავალგანზომილებიანი ხედვა:</a:t>
            </a:r>
            <a:r>
              <a:rPr lang="en-US" sz="1100">
                <a:solidFill>
                  <a:schemeClr val="dk1"/>
                </a:solidFill>
              </a:rPr>
              <a:t> გლობალური ეკონომიკური ქსელების, ტრანსნაციონალური კორპორაციების, მიწოდების ჯაჭვებისა და კულტურული ინტეგრაციის მიზეზ-შედეგობრივი კავშირების კრიტიკული შეფასება.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დისტანციური ზონდირებისა და GIS-ის გამოყენება:</a:t>
            </a:r>
            <a:r>
              <a:rPr lang="en-US" sz="1100">
                <a:solidFill>
                  <a:schemeClr val="dk1"/>
                </a:solidFill>
              </a:rPr>
              <a:t> სატელიტური სურათებისა და დროითი ფენების (Timelapse) შედარებითი ანალიზი კრიოსფეროსა და ინფრასტრუქტურის ცვლილებების დასაკვირვებლად. </a:t>
            </a:r>
            <a:r>
              <a:rPr b="1" lang="en-US" sz="1100">
                <a:solidFill>
                  <a:schemeClr val="dk1"/>
                </a:solidFill>
              </a:rPr>
              <a:t>გეოპოლიტიკური და რესურსული დილემები:</a:t>
            </a:r>
            <a:r>
              <a:rPr lang="en-US" sz="1100">
                <a:solidFill>
                  <a:schemeClr val="dk1"/>
                </a:solidFill>
              </a:rPr>
              <a:t> „მწვანე ეკონომიკისთვის“ კრიტიკული მინერალების (ლითიუმი, კობალტი, იშვიათმიწა ელემენტები) გეოგრაფიისა და საერთაშორისო ინტერესების გადაკვეთის გაანალიზება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68107" y="18150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713232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რას ვისწავლით წელს?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1E8FA">
              <a:alpha val="90980"/>
            </a:srgbClr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4.png"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60" y="2329041"/>
            <a:ext cx="3977640" cy="24010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შეფასება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31520" y="213984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სიღრმისეულ არგუმენტაციაზე ორიენტირებული:</a:t>
            </a:r>
            <a:r>
              <a:rPr lang="en-US" sz="1100">
                <a:solidFill>
                  <a:schemeClr val="dk1"/>
                </a:solidFill>
              </a:rPr>
              <a:t> ფასდება არა მხოლოდ ფაქტების ცოდნა, არამედ რთული გლობალური სისტემების ურთიერთკავშირის დანახვა და კრიტიკული ხედვა.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პრაქტიკული და მყისიერი:</a:t>
            </a:r>
            <a:r>
              <a:rPr lang="en-US" sz="1100">
                <a:solidFill>
                  <a:schemeClr val="dk1"/>
                </a:solidFill>
              </a:rPr>
              <a:t> სატელიტური მონაცემების ანალიზისა თუ სიმულაციების დროს იქვე იღებ უკუკავშირს შენი გადაწყვეტილებებისა და ლოგიკის სისწორეზე.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მკაფიო კვლევითი რუბრიკით:</a:t>
            </a:r>
            <a:r>
              <a:rPr lang="en-US" sz="1100">
                <a:solidFill>
                  <a:schemeClr val="dk1"/>
                </a:solidFill>
              </a:rPr>
              <a:t> წინასწარ იცი, რა კრიტერიუმებით ფასდება პოლიტიკის დოკუმენტის მომზადება, მონაცემთა გრაფიკი თუ დებატებში მონაწილეობა.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13232" y="1051579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შეფასება და უკუკავშირი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E4DF">
              <a:alpha val="90980"/>
            </a:srgbClr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2832" y="2659545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პროცესი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68095" y="1737357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სატელიტური მონიტორინგი (Google Earth Timelapse):</a:t>
            </a:r>
            <a:r>
              <a:rPr lang="en-US" sz="1100">
                <a:solidFill>
                  <a:schemeClr val="dk1"/>
                </a:solidFill>
              </a:rPr>
              <a:t> კავკასიონის, ალპებისა და არქტიკის მყინვარების უკანდახევის 40-წლიანი დინამიკის შესწავლა და ფართობის კლების გამოთვლა.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ქვეყნის ენერგეტიკული გეგმის მოდელირება:</a:t>
            </a:r>
            <a:r>
              <a:rPr lang="en-US" sz="1100">
                <a:solidFill>
                  <a:schemeClr val="dk1"/>
                </a:solidFill>
              </a:rPr>
              <a:t> შერჩეული ქვეყნისთვის 100%-ით განახლებად ენერგიაზე გადასვლის სტრატეგიის შექმნა გეოგრაფიული რესურსების გათვალისწინებით.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„გლობალური პროდუქტის მოგზაურობა“:</a:t>
            </a:r>
            <a:r>
              <a:rPr lang="en-US" sz="1100">
                <a:solidFill>
                  <a:schemeClr val="dk1"/>
                </a:solidFill>
              </a:rPr>
              <a:t> ერთი ნივთის (მაგ. სმარტფონის ან ელექტრომობილის) მიწოდების გლობალური ჯაჭვის რუკაზე დატანა (ნედლეულის მოპოვებიდან გადამუშავებამდე).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კლიმატის გეოპოლიტიკური დებატები:</a:t>
            </a:r>
            <a:r>
              <a:rPr lang="en-US" sz="1100">
                <a:solidFill>
                  <a:schemeClr val="dk1"/>
                </a:solidFill>
              </a:rPr>
              <a:t> COP-ის (გაეროს კლიმატის კონფერენციის) სიმულაცია ნახშირორჟანგის ემისიების შემცირებისა და კომპენსაციების გადანაწილებაზე.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58382" y="1687057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58382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გაკვეთილები და დავალებები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1.png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2259581"/>
            <a:ext cx="2834640" cy="228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20290" y="10145"/>
            <a:ext cx="12191700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რესურსები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68095" y="188379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დისტანციური ზონდირება და რუკები:</a:t>
            </a:r>
            <a:r>
              <a:rPr lang="en-US" sz="1100">
                <a:solidFill>
                  <a:schemeClr val="dk1"/>
                </a:solidFill>
              </a:rPr>
              <a:t> Google Earth Engine / Timelapse, Copernicus Browser, NASA Worldview, Global Solar &amp; Wind Atlas.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ანალიტიკური და ენერგეტიკული ბაზები:</a:t>
            </a:r>
            <a:r>
              <a:rPr lang="en-US" sz="1100">
                <a:solidFill>
                  <a:schemeClr val="dk1"/>
                </a:solidFill>
              </a:rPr>
              <a:t> Our World in Data (Energy &amp; Environment), International Energy Agency (IEA), IRENA (განახლებადი ენერგიის სააგენტო), World Glacier Monitoring Service (WGMS).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04107" y="18837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04107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და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F1C2">
              <a:alpha val="90980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7053" y="2029968"/>
            <a:ext cx="2588334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5" name="Google Shape;135;p6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მტკიცებულებები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13232" y="1051560"/>
            <a:ext cx="1005840" cy="384048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Noto Sans Georgian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პორტფოლიო / ნამუშევრების საქაღალდე</a:t>
            </a:r>
            <a:endParaRPr b="0" i="0" sz="2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3960" y="2573930"/>
            <a:ext cx="2148840" cy="160955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ჩართულობა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სატელიტური „დროის მანქანა“:</a:t>
            </a:r>
            <a:r>
              <a:rPr lang="en-US" sz="1100">
                <a:solidFill>
                  <a:schemeClr val="dk1"/>
                </a:solidFill>
              </a:rPr>
              <a:t> ფოტო-დეტექტივი: ეკრანზე ჩნდება მყინვარის ან წყალსაცავის სატელიტური ფოტოები 1985 და 2024 წლებში მოსწავლეებმა უნდა ამოიცნონ ლოკაცია და გაზომონ დანაკარგი.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Shark Tank: „მწვანე სტარტაპი“:</a:t>
            </a:r>
            <a:r>
              <a:rPr lang="en-US" sz="1100">
                <a:solidFill>
                  <a:schemeClr val="dk1"/>
                </a:solidFill>
              </a:rPr>
              <a:t> მოსწავლეები ქმნიან და „ყიდიან“ ინოვაციურ იდეას (მაგ. ტალღების ენერგიის გამოყენება ან ლოკალური მწვანე მიწოდების ჯაჭვი).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„გლობალური კრიზისის ჯაჭვი“:</a:t>
            </a:r>
            <a:r>
              <a:rPr lang="en-US" sz="1100">
                <a:solidFill>
                  <a:schemeClr val="dk1"/>
                </a:solidFill>
              </a:rPr>
              <a:t> როლური თამაში როგორ იწვევს სუეცის არხის ჩაკეტვა ან გვალვა პანამის არხში ფასების ზრდას ადგილობრივ სუპერმარკეტში.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ხალისიანი აქტივობები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1E8FA">
              <a:alpha val="90980"/>
            </a:srgbClr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6.png"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2525137"/>
            <a:ext cx="3429000" cy="175286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8" name="Google Shape;178;p8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შეთანხმებები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გუნდურობა და პატივისცემა:</a:t>
            </a:r>
            <a:r>
              <a:rPr lang="en-US" sz="1100">
                <a:solidFill>
                  <a:schemeClr val="dk1"/>
                </a:solidFill>
              </a:rPr>
              <a:t> ვუსმენთ ერთმანეთს შეწყვეტის გარეშე, გუნდურ აქტივობებში ვინაწილებთ საქმეს თანაბრად და პატივს ვცემთ განსხვავებულ აზრს.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აქტიური ჩართულობა და შეცდომის თავისუფლება:</a:t>
            </a:r>
            <a:r>
              <a:rPr lang="en-US" sz="1100">
                <a:solidFill>
                  <a:schemeClr val="dk1"/>
                </a:solidFill>
              </a:rPr>
              <a:t> თამამად ვსვამთ კითხვებს და ვერთვებით დისკუსიებში; შეცდომა აქ არ ისჯება ის სწავლის პროცესის ნაწილია.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დროის მართვა და პასუხისმგებლობა:</a:t>
            </a:r>
            <a:r>
              <a:rPr lang="en-US" sz="1100">
                <a:solidFill>
                  <a:schemeClr val="dk1"/>
                </a:solidFill>
              </a:rPr>
              <a:t> გაკვეთილზე მოვდივართ მომზადებული (რუკა, ატლასი, დამუხტული მოწყობილობა) და დავალებებს ვაბარებთ დათქმულ ვადებში.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წესები / შეთანხმებები / კითხვები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E4DF">
              <a:alpha val="90980"/>
            </a:srgbClr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0496" y="2121938"/>
            <a:ext cx="2514600" cy="284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99" name="Google Shape;199;p9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2026-09-10T05:56:14Z</dcterms:created>
  <dc:creator>OpenAI</dc:creator>
</cp:coreProperties>
</file>