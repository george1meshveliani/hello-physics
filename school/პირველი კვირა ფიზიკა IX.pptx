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Noto Sans Georgian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dnsQgY595LH0cqB+u3xMqjxJd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NotoSansGeorgian-regular.fntdata"/><Relationship Id="rId15" Type="http://schemas.openxmlformats.org/officeDocument/2006/relationships/font" Target="fonts/NotoSansGeorgian-bold.fntdata"/><Relationship Id="rId1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886200" y="0"/>
            <a:ext cx="10972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892894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092690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292486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829800" y="510235"/>
            <a:ext cx="1493215" cy="441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15"/>
              <a:buFont typeface="Noto Sans Georgian"/>
              <a:buNone/>
            </a:pPr>
            <a:r>
              <a:rPr b="1" i="0" lang="en-US" sz="2415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41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745675" y="941375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13232" y="1097280"/>
            <a:ext cx="55778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800"/>
              <a:buFont typeface="Noto Sans Georgian"/>
              <a:buNone/>
            </a:pPr>
            <a:r>
              <a:rPr b="1" lang="en-US" sz="3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ფიზიკა — IX კლასი</a:t>
            </a:r>
            <a:endParaRPr b="0" i="0" sz="3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68096" y="2880360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6.png" id="29" name="Google Shape;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0" y="2050082"/>
            <a:ext cx="5394960" cy="275783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768096" y="624535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150"/>
              <a:buFont typeface="Noto Sans Georgian"/>
              <a:buNone/>
            </a:pPr>
            <a:r>
              <a:rPr b="1" i="0" lang="en-US" sz="115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პირველი კვირა</a:t>
            </a:r>
            <a:endParaRPr b="0" i="0" sz="11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E7490"/>
          </a:solidFill>
          <a:ln cap="flat" cmpd="sng" w="10150">
            <a:solidFill>
              <a:srgbClr val="0E749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წლის რუკა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31520" y="157289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მეცნიერული წიგნიერება:</a:t>
            </a:r>
            <a:r>
              <a:rPr lang="en-US" sz="1100">
                <a:solidFill>
                  <a:schemeClr val="dk1"/>
                </a:solidFill>
              </a:rPr>
              <a:t> ვექტორული სიდიდეების, აჩქარებისა და ნიუტონის კანონების ზუსტი გამოყენება.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ანალიტიკური აზროვნება:</a:t>
            </a:r>
            <a:r>
              <a:rPr lang="en-US" sz="1100">
                <a:solidFill>
                  <a:schemeClr val="dk1"/>
                </a:solidFill>
              </a:rPr>
              <a:t> მოძრაობის გრაფიკებისა და ამოცანების მათემატიკური ანალიზი.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კანონზომიერებათა გააზრება:</a:t>
            </a:r>
            <a:r>
              <a:rPr lang="en-US" sz="1100">
                <a:solidFill>
                  <a:schemeClr val="dk1"/>
                </a:solidFill>
              </a:rPr>
              <a:t> იმპულსისა და ენერგიის მუდმივობის კანონების პრაქტიკაში დანახვა.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კვლევითი უნარები:</a:t>
            </a:r>
            <a:r>
              <a:rPr lang="en-US" sz="1100">
                <a:solidFill>
                  <a:schemeClr val="dk1"/>
                </a:solidFill>
              </a:rPr>
              <a:t> ლაბორატორიული ცდებით ჰიპოთეზის შემოწმება და დასკვნის ჩამოყალიბება.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58382" y="17144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58382" y="76810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წლის მიზნები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3648" y="2591001"/>
            <a:ext cx="2423160" cy="172171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51" name="Google Shape;51;p2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საგნის ხედვა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68095" y="1737357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კინემატიკა:</a:t>
            </a:r>
            <a:r>
              <a:rPr lang="en-US" sz="1100">
                <a:solidFill>
                  <a:schemeClr val="dk1"/>
                </a:solidFill>
              </a:rPr>
              <a:t> თანაბარაჩქარებული მოძრაობა, თავისუფალი ვარდნა, გრაფიკები s(t) და v(t).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ნიუტონის კანონები:</a:t>
            </a:r>
            <a:r>
              <a:rPr lang="en-US" sz="1100">
                <a:solidFill>
                  <a:schemeClr val="dk1"/>
                </a:solidFill>
              </a:rPr>
              <a:t> ინერცია, ძალა-მასა-აჩქარების კავშირი და მოქმედება-საპასუხო მოქმედება.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წრიული მოძრაობა და წონა:</a:t>
            </a:r>
            <a:r>
              <a:rPr lang="en-US" sz="1100">
                <a:solidFill>
                  <a:schemeClr val="dk1"/>
                </a:solidFill>
              </a:rPr>
              <a:t> ცენტრისკენული აჩქარება, უწონადობა, ხელოვნური თანამგზავრები.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იმპულსი, ენერგია და წონასწორობა:</a:t>
            </a:r>
            <a:r>
              <a:rPr lang="en-US" sz="1100">
                <a:solidFill>
                  <a:schemeClr val="dk1"/>
                </a:solidFill>
              </a:rPr>
              <a:t> მუდმივობის კანონები და სხეულთა წონასწორობის პირობები.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68107" y="18150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713232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რას ვისწავლით წელს?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1E8FA">
              <a:alpha val="90980"/>
            </a:srgbClr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4.png"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60" y="2329041"/>
            <a:ext cx="3977640" cy="240108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2" name="Google Shape;72;p3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შეფასება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31520" y="213984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ლოგიკური და ანალიტიკური უნარები:</a:t>
            </a:r>
            <a:r>
              <a:rPr lang="en-US" sz="1100">
                <a:solidFill>
                  <a:schemeClr val="dk1"/>
                </a:solidFill>
              </a:rPr>
              <a:t> ფასდება ამოცანის ამოხსნის სვლა და ფიზიკური აზროვნება, არა მხოლოდ პასუხი.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ლაბორატორიული კვლევა:</a:t>
            </a:r>
            <a:r>
              <a:rPr lang="en-US" sz="1100">
                <a:solidFill>
                  <a:schemeClr val="dk1"/>
                </a:solidFill>
              </a:rPr>
              <a:t> ცდის დაგეგმვის, ჩატარებისა და დასკვნის ჩამოყალიბების უნარი.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მკაფიო რუბრიკა:</a:t>
            </a:r>
            <a:r>
              <a:rPr lang="en-US" sz="1100">
                <a:solidFill>
                  <a:schemeClr val="dk1"/>
                </a:solidFill>
              </a:rPr>
              <a:t> წინასწარ ცნობილი კრიტერიუმები წერითი და ლაბორატორიული სამუშაოსთვის.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13232" y="1051579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შეფასება და უკუკავშირი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E4DF">
              <a:alpha val="90980"/>
            </a:srgbClr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2832" y="2659545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პროცესი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68095" y="1737357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დემონსტრაციები:</a:t>
            </a:r>
            <a:r>
              <a:rPr lang="en-US" sz="1100">
                <a:solidFill>
                  <a:schemeClr val="dk1"/>
                </a:solidFill>
              </a:rPr>
              <a:t> ინერცია, ნიუტონის კანონები, წრიული მოძრაობა რეალურ მაგალითებზე.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ლაბორატორიული სამუშაოები:</a:t>
            </a:r>
            <a:r>
              <a:rPr lang="en-US" sz="1100">
                <a:solidFill>
                  <a:schemeClr val="dk1"/>
                </a:solidFill>
              </a:rPr>
              <a:t> ძალისა და აჩქარების დამოკიდებულების შესწავლა.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ამოცანების ამოხსნა:</a:t>
            </a:r>
            <a:r>
              <a:rPr lang="en-US" sz="1100">
                <a:solidFill>
                  <a:schemeClr val="dk1"/>
                </a:solidFill>
              </a:rPr>
              <a:t> კინემატიკა, დინამიკა, იმპულსისა და ენერგიის კანონები.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განმეორება-განზოგადება:</a:t>
            </a:r>
            <a:r>
              <a:rPr lang="en-US" sz="1100">
                <a:solidFill>
                  <a:schemeClr val="dk1"/>
                </a:solidFill>
              </a:rPr>
              <a:t> შუალედური და სემესტრული საკონტროლო სამუშაოები.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58382" y="1687057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658382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გაკვეთილები და დავალებები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1.png"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2259581"/>
            <a:ext cx="2834640" cy="228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4" name="Google Shape;114;p5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20290" y="10145"/>
            <a:ext cx="12191700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რესურსები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68095" y="188379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სახელმძღვანელო და ლაბორატორიული ხელსაწყოები:</a:t>
            </a:r>
            <a:r>
              <a:rPr lang="en-US" sz="1100">
                <a:solidFill>
                  <a:schemeClr val="dk1"/>
                </a:solidFill>
              </a:rPr>
              <a:t> „ფიზიკა-9“, ურიკები, დინამომეტრები, წამზომები.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დამხმარე მასალები:</a:t>
            </a:r>
            <a:r>
              <a:rPr lang="en-US" sz="1100">
                <a:solidFill>
                  <a:schemeClr val="dk1"/>
                </a:solidFill>
              </a:rPr>
              <a:t> ონლაინ სიმულაციები მოძრაობასა და კანონებზე, სამუშაო ფურცლები, მილიმეტრიანი ქაღალდი.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04107" y="18837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704107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და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F1C2">
              <a:alpha val="90980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7053" y="2029968"/>
            <a:ext cx="2588334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5" name="Google Shape;135;p6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მტკიცებულებები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713232" y="1051560"/>
            <a:ext cx="1005840" cy="384048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Noto Sans Georgian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პორტფოლიო / ლაბორატორიული ნამუშევრების საქაღალდე</a:t>
            </a:r>
            <a:endParaRPr b="0" i="0" sz="2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55" name="Google Shape;1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3960" y="2573930"/>
            <a:ext cx="2148840" cy="160955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ჩართულობა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„ინერციის ლაბორატორია“:</a:t>
            </a:r>
            <a:r>
              <a:rPr lang="en-US" sz="1100">
                <a:solidFill>
                  <a:schemeClr val="dk1"/>
                </a:solidFill>
              </a:rPr>
              <a:t> ცდები ურიკებითა და ბურთულებით ინერციის საჩვენებლად.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კოსმოსური სიჩქარეების დისკუსია:</a:t>
            </a:r>
            <a:r>
              <a:rPr lang="en-US" sz="1100">
                <a:solidFill>
                  <a:schemeClr val="dk1"/>
                </a:solidFill>
              </a:rPr>
              <a:t> თანამგზავრებისა და უწონადობის განხილვა რეალურ მაგალითებზე.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„დაჯახების დეტექტივი“:</a:t>
            </a:r>
            <a:r>
              <a:rPr lang="en-US" sz="1100">
                <a:solidFill>
                  <a:schemeClr val="dk1"/>
                </a:solidFill>
              </a:rPr>
              <a:t> იმპულსის მუდმივობის კანონის შემოწმება მარტივი ცდებით.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ხალისიანი აქტივობები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1E8FA">
              <a:alpha val="90980"/>
            </a:srgbClr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6.png" id="176" name="Google Shape;1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2525137"/>
            <a:ext cx="3429000" cy="175286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8" name="Google Shape;178;p8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შეთანხმებები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გუნდურობა და პატივისცემა:</a:t>
            </a:r>
            <a:r>
              <a:rPr lang="en-US" sz="1100">
                <a:solidFill>
                  <a:schemeClr val="dk1"/>
                </a:solidFill>
              </a:rPr>
              <a:t> ლაბორატორიულ სამუშაოებში ვინაწილებთ როლებს და ვისმენთ ერთმანეთს.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აქტიური ჩართულობა:</a:t>
            </a:r>
            <a:r>
              <a:rPr lang="en-US" sz="1100">
                <a:solidFill>
                  <a:schemeClr val="dk1"/>
                </a:solidFill>
              </a:rPr>
              <a:t> თამამად ვსვამთ კითხვებს და ვმსჯელობთ ამოცანების ამოხსნის სხვადასხვა გზაზე.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მზადყოფნა და პასუხისმგებლობა:</a:t>
            </a:r>
            <a:r>
              <a:rPr lang="en-US" sz="1100">
                <a:solidFill>
                  <a:schemeClr val="dk1"/>
                </a:solidFill>
              </a:rPr>
              <a:t> გაკვეთილზე გვაქვს კალკულატორი და საჭირო მასალები, დავალებებს ვაბარებთ დროულად.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წესები / შეთანხმებები / კითხვები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E4DF">
              <a:alpha val="90980"/>
            </a:srgbClr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0496" y="2121938"/>
            <a:ext cx="2514600" cy="284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99" name="Google Shape;199;p9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2026-09-10T05:56:14Z</dcterms:created>
  <dc:creator>OpenAI</dc:creator>
</cp:coreProperties>
</file>