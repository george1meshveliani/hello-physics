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Noto Sans Georgian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dnsQgY595LH0cqB+u3xMqjxJ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NotoSansGeorgian-regular.fntdata"/><Relationship Id="rId15" Type="http://schemas.openxmlformats.org/officeDocument/2006/relationships/font" Target="fonts/NotoSansGeorgian-bold.fntdata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886200" y="0"/>
            <a:ext cx="10972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892894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092690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292486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829800" y="510235"/>
            <a:ext cx="1493215" cy="441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15"/>
              <a:buFont typeface="Noto Sans Georgian"/>
              <a:buNone/>
            </a:pPr>
            <a:r>
              <a:rPr b="1" i="0" lang="en-US" sz="2415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41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745675" y="941375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1097280"/>
            <a:ext cx="55778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Noto Sans Georgian"/>
              <a:buNone/>
            </a:pPr>
            <a:r>
              <a:rPr b="1" lang="en-US" sz="3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ფიზიკა — VII კლასი</a:t>
            </a:r>
            <a:endParaRPr b="0" i="0" sz="3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68096" y="288036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2050082"/>
            <a:ext cx="5394960" cy="2757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768096" y="624535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150"/>
              <a:buFont typeface="Noto Sans Georgian"/>
              <a:buNone/>
            </a:pPr>
            <a:r>
              <a:rPr b="1" i="0" lang="en-US" sz="115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პირველი კვირა</a:t>
            </a:r>
            <a:endParaRPr b="0" i="0" sz="11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E7490"/>
          </a:solidFill>
          <a:ln cap="flat" cmpd="sng" w="10150">
            <a:solidFill>
              <a:srgbClr val="0E74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წლის რუკა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1520" y="15728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მეცნიერული წიგნიერება:</a:t>
            </a:r>
            <a:r>
              <a:rPr lang="en-US" sz="1100">
                <a:solidFill>
                  <a:schemeClr val="dk1"/>
                </a:solidFill>
              </a:rPr>
              <a:t> ფიზიკური სიდიდეების, ერთეულებისა (სი) და საზომი ხელსაწყოების სწორად გამოყენება.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დაკვირვება და ექსპერიმენტი:</a:t>
            </a:r>
            <a:r>
              <a:rPr lang="en-US" sz="1100">
                <a:solidFill>
                  <a:schemeClr val="dk1"/>
                </a:solidFill>
              </a:rPr>
              <a:t> მარტივი საკლასო ცდებით მოვლენების შესწავლა და შედეგების ანალიზი.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მექანიკური მოვლენების გააზრება:</a:t>
            </a:r>
            <a:r>
              <a:rPr lang="en-US" sz="1100">
                <a:solidFill>
                  <a:schemeClr val="dk1"/>
                </a:solidFill>
              </a:rPr>
              <a:t> მოძრაობის, ძალისა და წნევის ურთიერთკავშირის დანახვა.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ყოველდღიურობასთან კავშირი:</a:t>
            </a:r>
            <a:r>
              <a:rPr lang="en-US" sz="1100">
                <a:solidFill>
                  <a:schemeClr val="dk1"/>
                </a:solidFill>
              </a:rPr>
              <a:t> ფიზიკის კანონების ამოცნობა ბუნებასა და ტექნიკაში.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58382" y="17144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58382" y="76810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წლის მიზნები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3648" y="2591001"/>
            <a:ext cx="2423160" cy="172171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საგნის ხედვა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შესავალი და გაზომვები:</a:t>
            </a:r>
            <a:r>
              <a:rPr lang="en-US" sz="1100">
                <a:solidFill>
                  <a:schemeClr val="dk1"/>
                </a:solidFill>
              </a:rPr>
              <a:t> ფიზიკური სიდიდეები, სი ერთეულები, საზომი ხელსაწყოები და ცდომილება.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მექანიკური მოძრაობა:</a:t>
            </a:r>
            <a:r>
              <a:rPr lang="en-US" sz="1100">
                <a:solidFill>
                  <a:schemeClr val="dk1"/>
                </a:solidFill>
              </a:rPr>
              <a:t> ტრაექტორია, სიჩქარე, თანაბარი და არათანაბარი მოძრაობა, გრაფიკები.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ძალა და ურთიერთქმედება:</a:t>
            </a:r>
            <a:r>
              <a:rPr lang="en-US" sz="1100">
                <a:solidFill>
                  <a:schemeClr val="dk1"/>
                </a:solidFill>
              </a:rPr>
              <a:t> სიმძიმის, დრეკადობისა და ხახუნის ძალები, მასა და სიმკვრივე.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წნევა და მარტივი მექანიზმები:</a:t>
            </a:r>
            <a:r>
              <a:rPr lang="en-US" sz="1100">
                <a:solidFill>
                  <a:schemeClr val="dk1"/>
                </a:solidFill>
              </a:rPr>
              <a:t> პასკალის კანონი, ატმოსფერული წნევა, არქიმედეს ძალა, ბერკეტი.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68107" y="18150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1323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რას ვისწავლით წელს?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4.png"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0" y="2329041"/>
            <a:ext cx="3977640" cy="24010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31520" y="213984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და პრაქტიკული უნარები:</a:t>
            </a:r>
            <a:r>
              <a:rPr lang="en-US" sz="1100">
                <a:solidFill>
                  <a:schemeClr val="dk1"/>
                </a:solidFill>
              </a:rPr>
              <a:t> ფასდება ცდის ჩატარება, გაზომვის სიზუსტე და ანგარიშის შედგენა.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ამოცანების ამოხსნა:</a:t>
            </a:r>
            <a:r>
              <a:rPr lang="en-US" sz="1100">
                <a:solidFill>
                  <a:schemeClr val="dk1"/>
                </a:solidFill>
              </a:rPr>
              <a:t> ფორმულების სწორად გამოყენება და გამოთვლითი სიზუსტე.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მკაფიო რუბრიკა:</a:t>
            </a:r>
            <a:r>
              <a:rPr lang="en-US" sz="1100">
                <a:solidFill>
                  <a:schemeClr val="dk1"/>
                </a:solidFill>
              </a:rPr>
              <a:t> წინასწარ ცნობილია, რა კრიტერიუმებით ფასდება წერითი, ზეპირი და ლაბორატორიული სამუშაო.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13232" y="1051579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 და უკუკავშირი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2832" y="2659545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პროცესი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დემონსტრაციული ცდები:</a:t>
            </a:r>
            <a:r>
              <a:rPr lang="en-US" sz="1100">
                <a:solidFill>
                  <a:schemeClr val="dk1"/>
                </a:solidFill>
              </a:rPr>
              <a:t> მოძრაობის, ძალისა და წნევის შესახებ.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სამუშაოები ჯგუფებში:</a:t>
            </a:r>
            <a:r>
              <a:rPr lang="en-US" sz="1100">
                <a:solidFill>
                  <a:schemeClr val="dk1"/>
                </a:solidFill>
              </a:rPr>
              <a:t> სიგრძის, დროის, ძალისა და სიმკვრივის გაზომვა.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სამუშაო ფურცლები და ამოცანები:</a:t>
            </a:r>
            <a:r>
              <a:rPr lang="en-US" sz="1100">
                <a:solidFill>
                  <a:schemeClr val="dk1"/>
                </a:solidFill>
              </a:rPr>
              <a:t> სიჩქარის, წნევისა და არქიმედეს ძალის გამოთვლა.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განმეორება-განზოგადება:</a:t>
            </a:r>
            <a:r>
              <a:rPr lang="en-US" sz="1100">
                <a:solidFill>
                  <a:schemeClr val="dk1"/>
                </a:solidFill>
              </a:rPr>
              <a:t> შუალედური და სემესტრული საკონტროლო სამუშაოები.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58382" y="1687057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5838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გაკვეთილები და დავალებები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1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2259581"/>
            <a:ext cx="2834640" cy="228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20290" y="10145"/>
            <a:ext cx="12191700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რესურსები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8095" y="18837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სახელმძღვანელო და საზომი ხელსაწყოები:</a:t>
            </a:r>
            <a:r>
              <a:rPr lang="en-US" sz="1100">
                <a:solidFill>
                  <a:schemeClr val="dk1"/>
                </a:solidFill>
              </a:rPr>
              <a:t> „ფიზიკა-7“, სახაზავი, წამზომი, თერმომეტრი, დინამომეტრი.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დამხმარე მასალები:</a:t>
            </a:r>
            <a:r>
              <a:rPr lang="en-US" sz="1100">
                <a:solidFill>
                  <a:schemeClr val="dk1"/>
                </a:solidFill>
              </a:rPr>
              <a:t> სამუშაო ფურცლები, ცხრილები (სიმკვრივეები, სი ერთეულები), ონლაინ სიმულაციები.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04107" y="18837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04107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და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F1C2">
              <a:alpha val="90980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7053" y="2029968"/>
            <a:ext cx="2588334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5" name="Google Shape;135;p6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მტკიცებულებები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13232" y="1051560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Noto Sans Georgian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პორტფოლიო / ლაბორატორიული ნამუშევრების საქაღალდე</a:t>
            </a:r>
            <a:endParaRPr b="0" i="0" sz="2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0" y="2573930"/>
            <a:ext cx="2148840" cy="16095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ჩართულობა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„ხელსაწყოთა დეტექტივი“:</a:t>
            </a:r>
            <a:r>
              <a:rPr lang="en-US" sz="1100">
                <a:solidFill>
                  <a:schemeClr val="dk1"/>
                </a:solidFill>
              </a:rPr>
              <a:t> საზომი ხელსაწყოებით საკლასო ოთახის საგნების გაზომვა.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ცურვა თუ ჩაძირვა?:</a:t>
            </a:r>
            <a:r>
              <a:rPr lang="en-US" sz="1100">
                <a:solidFill>
                  <a:schemeClr val="dk1"/>
                </a:solidFill>
              </a:rPr>
              <a:t> ცდები სხვადასხვა სხეულის წყალში ჩაშვებით და არქიმედეს ძალის ახსნით.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მარტივი მექანიზმების გამოწვევა:</a:t>
            </a:r>
            <a:r>
              <a:rPr lang="en-US" sz="1100">
                <a:solidFill>
                  <a:schemeClr val="dk1"/>
                </a:solidFill>
              </a:rPr>
              <a:t> ბერკეტისა და დახრილი სიბრტყის მოდელების აწყობა ყოფითი მასალებით.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ხალისიანი აქტივობები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2525137"/>
            <a:ext cx="3429000" cy="175286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8" name="Google Shape;178;p8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შეთანხმებები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გუნდურობა და პატივისცემა:</a:t>
            </a:r>
            <a:r>
              <a:rPr lang="en-US" sz="1100">
                <a:solidFill>
                  <a:schemeClr val="dk1"/>
                </a:solidFill>
              </a:rPr>
              <a:t> ლაბორატორიულ სამუშაოებში ერთმანეთს ვეხმარებით და პატივს ვცემთ განსხვავებულ მოსაზრებას.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აქტიური ჩართულობა:</a:t>
            </a:r>
            <a:r>
              <a:rPr lang="en-US" sz="1100">
                <a:solidFill>
                  <a:schemeClr val="dk1"/>
                </a:solidFill>
              </a:rPr>
              <a:t> თამამად ვსვამთ კითხვებს; შეცდომა სწავლის ბუნებრივი ნაწილია.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მზადყოფნა და პასუხისმგებლობა:</a:t>
            </a:r>
            <a:r>
              <a:rPr lang="en-US" sz="1100">
                <a:solidFill>
                  <a:schemeClr val="dk1"/>
                </a:solidFill>
              </a:rPr>
              <a:t> გაკვეთილზე გვაქვს საჭირო ხელსაწყოები და დავალებებს ვაბარებთ დათქმულ ვადაში.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წესები / შეთანხმებები / კითხვები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496" y="2121938"/>
            <a:ext cx="2514600" cy="284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2026-09-10T05:56:14Z</dcterms:created>
  <dc:creator>OpenAI</dc:creator>
</cp:coreProperties>
</file>