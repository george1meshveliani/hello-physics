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1675"/>
  <p:notesSz cx="6858000" cy="12191675"/>
  <p:embeddedFontLst>
    <p:embeddedFont>
      <p:font typeface="Noto Sans Georgian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FTkcRW8u/SH9hvfOxt8iS2x/j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font" Target="fonts/NotoSansGeorgian-regular.fntdata"/><Relationship Id="rId13" Type="http://schemas.openxmlformats.org/officeDocument/2006/relationships/font" Target="fonts/NotoSansGeorgian-bold.fntdata"/><Relationship Id="rId1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8ceb06b7e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g3f8ceb06b7e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f8ceb06b7e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8ceb06b7e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g3f8ceb06b7e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f8ceb06b7e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903720" y="1417320"/>
            <a:ext cx="3657600" cy="4251960"/>
          </a:xfrm>
          <a:prstGeom prst="roundRect">
            <a:avLst>
              <a:gd fmla="val 16667" name="adj"/>
            </a:avLst>
          </a:prstGeom>
          <a:solidFill>
            <a:srgbClr val="EAF6F5">
              <a:alpha val="96078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904781" y="384048"/>
            <a:ext cx="862279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820656" y="678485"/>
            <a:ext cx="1493215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736531" y="1141171"/>
            <a:ext cx="1976933" cy="189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13232" y="1051560"/>
            <a:ext cx="58978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36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ლაბ. სამუშაო: ამპერის ძალა</a:t>
            </a:r>
            <a:endParaRPr b="0" i="0" sz="36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68096" y="297180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>GMUS ფიზიკა - ყოველდღიური გეგმარების ფორმა - XI - გაკვეთილი 5</a:t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49808" y="3767328"/>
            <a:ext cx="1920240" cy="109728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816352" y="3767328"/>
            <a:ext cx="1143000" cy="109728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096512" y="3767328"/>
            <a:ext cx="1600200" cy="109728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27" name="Google Shape;2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8778" y="1828800"/>
            <a:ext cx="3033204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8ceb06b7e_0_39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f8ceb06b7e_0_39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g3f8ceb06b7e_0_39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f8ceb06b7e_0_39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7" name="Google Shape;37;g3f8ceb06b7e_0_39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8" name="Google Shape;38;g3f8ceb06b7e_0_39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9" name="Google Shape;39;g3f8ceb06b7e_0_39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8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თემის ფარგლებში დასამუშავებელი მიზნები</a:t>
            </a:r>
            <a:endParaRPr b="0" i="0" sz="2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0" name="Google Shape;40;g3f8ceb06b7e_0_39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pic>
        <p:nvPicPr>
          <p:cNvPr id="41" name="Google Shape;41;g3f8ceb06b7e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0343" y="1917125"/>
            <a:ext cx="2824366" cy="3252300"/>
          </a:xfrm>
          <a:prstGeom prst="rect">
            <a:avLst/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" name="Google Shape;42;g3f8ceb06b7e_0_39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ამპერის ძალაზე დამოკიდებული სიდიდეების ექსპერიმენტული შესწავლა.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ლაბორატორიული მონაცემების ჩაწერისა და ანალიზის უნარი.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თეორიული ფორმულის ექსპერიმენტთან შედარება.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8ceb06b7e_0_57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f8ceb06b7e_0_57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f8ceb06b7e_0_57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f8ceb06b7e_0_57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2" name="Google Shape;52;g3f8ceb06b7e_0_57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3" name="Google Shape;53;g3f8ceb06b7e_0_57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4" name="Google Shape;54;g3f8ceb06b7e_0_57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7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მიზნის მისაღწევად დასამუშავებელი რესურსები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5" name="Google Shape;55;g3f8ceb06b7e_0_57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6" name="Google Shape;56;g3f8ceb06b7e_0_57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ლაბორატორიული ნაკრები (მაგნიტი, გამტარი, წყარო).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ამპერმეტრი.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ლაბორატორიული ინსტრუქცია.</a:t>
            </a:r>
            <a:endParaRPr/>
          </a:p>
        </p:txBody>
      </p:sp>
      <p:pic>
        <p:nvPicPr>
          <p:cNvPr id="57" name="Google Shape;57;g3f8ceb06b7e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3986" y="1940300"/>
            <a:ext cx="3397075" cy="33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დროის მართვა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1" name="Google Shape;71;p3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3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დღის გეგმა — დროის განაწილება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49808" y="1664208"/>
            <a:ext cx="7726800" cy="434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49808" y="1664208"/>
            <a:ext cx="109800" cy="43434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78408" y="2011680"/>
            <a:ext cx="32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344168" y="20116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წინარე ცოდნის გააქტიურება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7" name="Google Shape;77;p3"/>
          <p:cNvCxnSpPr/>
          <p:nvPr/>
        </p:nvCxnSpPr>
        <p:spPr>
          <a:xfrm>
            <a:off x="5577840" y="21762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3"/>
          <p:cNvSpPr/>
          <p:nvPr/>
        </p:nvSpPr>
        <p:spPr>
          <a:xfrm>
            <a:off x="6903720" y="20116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78408" y="26974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2.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344168" y="26974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დავალებაზე / წინა მასალაზე მუშაობა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1" name="Google Shape;81;p3"/>
          <p:cNvCxnSpPr/>
          <p:nvPr/>
        </p:nvCxnSpPr>
        <p:spPr>
          <a:xfrm>
            <a:off x="5577840" y="28620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/>
          <p:nvPr/>
        </p:nvSpPr>
        <p:spPr>
          <a:xfrm>
            <a:off x="6903720" y="2697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978408" y="33832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3.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344168" y="33832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5" name="Google Shape;85;p3"/>
          <p:cNvCxnSpPr/>
          <p:nvPr/>
        </p:nvCxnSpPr>
        <p:spPr>
          <a:xfrm>
            <a:off x="5577840" y="35478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3"/>
          <p:cNvSpPr/>
          <p:nvPr/>
        </p:nvSpPr>
        <p:spPr>
          <a:xfrm>
            <a:off x="6903720" y="33832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78408" y="40690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344168" y="40690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II / პრაქტიკა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9" name="Google Shape;89;p3"/>
          <p:cNvCxnSpPr/>
          <p:nvPr/>
        </p:nvCxnSpPr>
        <p:spPr>
          <a:xfrm>
            <a:off x="5541265" y="4197097"/>
            <a:ext cx="12345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3"/>
          <p:cNvSpPr/>
          <p:nvPr/>
        </p:nvSpPr>
        <p:spPr>
          <a:xfrm>
            <a:off x="6903720" y="4069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978408" y="47548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344168" y="47548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შეჯამება / გამოსასვლელი ბილეთი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3" name="Google Shape;93;p3"/>
          <p:cNvCxnSpPr/>
          <p:nvPr/>
        </p:nvCxnSpPr>
        <p:spPr>
          <a:xfrm>
            <a:off x="5577840" y="49194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3"/>
          <p:cNvSpPr/>
          <p:nvPr/>
        </p:nvSpPr>
        <p:spPr>
          <a:xfrm>
            <a:off x="6903720" y="47548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559552" y="548640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სულ: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6" name="Google Shape;96;p3"/>
          <p:cNvCxnSpPr/>
          <p:nvPr/>
        </p:nvCxnSpPr>
        <p:spPr>
          <a:xfrm>
            <a:off x="6172200" y="5641848"/>
            <a:ext cx="914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3"/>
          <p:cNvSpPr/>
          <p:nvPr/>
        </p:nvSpPr>
        <p:spPr>
          <a:xfrm>
            <a:off x="7178040" y="548640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1" name="Google Shape;111;p4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4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აქტივობების აღწერა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49808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Noto Sans Georgian"/>
              </a:rPr>
              <a:t>ლაბორატორიული სამუშაო: ამპერის ძალა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749808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005840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1005840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4"/>
          <p:cNvCxnSpPr/>
          <p:nvPr/>
        </p:nvCxnSpPr>
        <p:spPr>
          <a:xfrm>
            <a:off x="1005840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4"/>
          <p:cNvSpPr/>
          <p:nvPr/>
        </p:nvSpPr>
        <p:spPr>
          <a:xfrm>
            <a:off x="6163056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1. თეორია: F დამოკიდებულია B, I და l-ზე (გამეორება).</a:t>
            </a:r>
            <a:endParaRPr/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2. მაგალითი: I-ის ზრდისას F იზრდება — შემოწმდეს ცდით.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3. ამოცანები: გაზომეთ F სხვადასხვა I-ზე, შეადარეთ გამოთვლილს.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4. ცდა: ლაბორატორია მაგნიტისა და გამტარის ნაკრებით.</a:t>
            </a:r>
          </a:p>
        </p:txBody>
      </p:sp>
      <p:sp>
        <p:nvSpPr>
          <p:cNvPr id="119" name="Google Shape;119;p4"/>
          <p:cNvSpPr/>
          <p:nvPr/>
        </p:nvSpPr>
        <p:spPr>
          <a:xfrm>
            <a:off x="6163056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6419088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ინსტრუქცია მოსწავლეებისთვის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6419088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4"/>
          <p:cNvCxnSpPr/>
          <p:nvPr/>
        </p:nvCxnSpPr>
        <p:spPr>
          <a:xfrm>
            <a:off x="6419088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4"/>
          <p:cNvSpPr/>
          <p:nvPr/>
        </p:nvSpPr>
        <p:spPr>
          <a:xfrm>
            <a:off x="749808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ჯგუფური ლაბორატორიული სამუშაო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749808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1005840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ფორმატი / ორგანიზება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6" name="Google Shape;126;p4"/>
          <p:cNvCxnSpPr/>
          <p:nvPr/>
        </p:nvCxnSpPr>
        <p:spPr>
          <a:xfrm>
            <a:off x="1005840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4"/>
          <p:cNvCxnSpPr/>
          <p:nvPr/>
        </p:nvCxnSpPr>
        <p:spPr>
          <a:xfrm>
            <a:off x="1005840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4"/>
          <p:cNvSpPr/>
          <p:nvPr/>
        </p:nvSpPr>
        <p:spPr>
          <a:xfrm>
            <a:off x="6163056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მაგნიტი, გამტარი, დენის წყარო, ამპერმეტრი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163056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419088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მასალა / რესურსი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6419088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4"/>
          <p:cNvCxnSpPr/>
          <p:nvPr/>
        </p:nvCxnSpPr>
        <p:spPr>
          <a:xfrm>
            <a:off x="6419088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64B6A"/>
          </a:solidFill>
          <a:ln cap="flat" cmpd="sng" w="10150">
            <a:solidFill>
              <a:srgbClr val="164B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რეფლექსია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13224" y="850400"/>
            <a:ext cx="8838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მასწავლებლის</a:t>
            </a:r>
            <a:r>
              <a:rPr b="1" lang="en-US" sz="29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/ მოსწავლის </a:t>
            </a:r>
            <a:endParaRPr b="1" sz="2900">
              <a:solidFill>
                <a:srgbClr val="111827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მოკლე რეფლექსია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49808" y="178308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749808" y="178308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005840" y="201168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გამოვიდა კარგად?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>
            <a:off x="4572000" y="225856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7"/>
          <p:cNvSpPr/>
          <p:nvPr/>
        </p:nvSpPr>
        <p:spPr>
          <a:xfrm>
            <a:off x="749808" y="320040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49808" y="320040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005840" y="342900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საჭიროებს შეცვლას?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3" name="Google Shape;153;p7"/>
          <p:cNvCxnSpPr/>
          <p:nvPr/>
        </p:nvCxnSpPr>
        <p:spPr>
          <a:xfrm>
            <a:off x="4572000" y="367588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7"/>
          <p:cNvSpPr/>
          <p:nvPr/>
        </p:nvSpPr>
        <p:spPr>
          <a:xfrm>
            <a:off x="749808" y="461772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749808" y="461772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005840" y="484632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რას გავითვალისწინებ შემდეგ ჯერზე?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4572000" y="509320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7"/>
          <p:cNvSpPr/>
          <p:nvPr/>
        </p:nvSpPr>
        <p:spPr>
          <a:xfrm>
            <a:off x="8942832" y="2011680"/>
            <a:ext cx="2057400" cy="3063240"/>
          </a:xfrm>
          <a:prstGeom prst="roundRect">
            <a:avLst>
              <a:gd fmla="val 16667" name="adj"/>
            </a:avLst>
          </a:prstGeom>
          <a:solidFill>
            <a:srgbClr val="EAF6F5">
              <a:alpha val="94902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3.png" id="159" name="Google Shape;1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98280" y="2665476"/>
            <a:ext cx="1737360" cy="123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 და შემდეგი ნაბიჯი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49808" y="1691640"/>
            <a:ext cx="6537960" cy="4251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749808" y="1691640"/>
            <a:ext cx="109728" cy="4251960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1005840" y="19385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ფორმულირება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76" name="Google Shape;176;p6"/>
          <p:cNvCxnSpPr/>
          <p:nvPr/>
        </p:nvCxnSpPr>
        <p:spPr>
          <a:xfrm>
            <a:off x="1005840" y="2633472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6"/>
          <p:cNvCxnSpPr/>
          <p:nvPr/>
        </p:nvCxnSpPr>
        <p:spPr>
          <a:xfrm>
            <a:off x="1005840" y="3218688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6"/>
          <p:cNvCxnSpPr/>
          <p:nvPr/>
        </p:nvCxnSpPr>
        <p:spPr>
          <a:xfrm>
            <a:off x="1005840" y="380390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6"/>
          <p:cNvSpPr/>
          <p:nvPr/>
        </p:nvSpPr>
        <p:spPr>
          <a:xfrm>
            <a:off x="1005840" y="45902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lang="en-US" sz="1300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კავშირი მიზანთან 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80" name="Google Shape;180;p6"/>
          <p:cNvCxnSpPr/>
          <p:nvPr/>
        </p:nvCxnSpPr>
        <p:spPr>
          <a:xfrm>
            <a:off x="1005840" y="526694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6"/>
          <p:cNvSpPr/>
          <p:nvPr/>
        </p:nvSpPr>
        <p:spPr>
          <a:xfrm>
            <a:off x="8001000" y="1874520"/>
            <a:ext cx="2926080" cy="3520440"/>
          </a:xfrm>
          <a:prstGeom prst="roundRect">
            <a:avLst>
              <a:gd fmla="val 16667" name="adj"/>
            </a:avLst>
          </a:prstGeom>
          <a:solidFill>
            <a:srgbClr val="FFF1C2">
              <a:alpha val="94902"/>
            </a:srgbClr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182" name="Google Shape;1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2595537"/>
            <a:ext cx="1920240" cy="143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TextBox 182"/>
          <p:cNvSpPr txBox="1"/>
          <p:nvPr/>
        </p:nvSpPr>
        <p:spPr>
          <a:xfrm>
            <a:off x="1005840" y="2280000"/>
            <a:ext cx="5806440" cy="2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დაწერეთ ლაბორატორიული ანგარიში დღევანდელი ცდის შედეგებზე.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05840" y="4880000"/>
            <a:ext cx="58064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ამტკიცებს თეორიისა და ექსპერიმენტის კავშირს.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2026-09-10T06:09:59Z</dcterms:created>
  <dc:creator>OpenAI</dc:creator>
</cp:coreProperties>
</file>